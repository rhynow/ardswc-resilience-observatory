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c5ebf0dc-5f59-330c-3d7e-18389cec33df}">
          <p14:sldIdLst>
            <p14:sldId id="256"/>
          </p14:sldIdLst>
        </p14:section>
        <p14:section name="問題" id="{04acbd4b-8eb5-2c46-5e08-35d77fbbeb38}">
          <p14:sldIdLst>
            <p14:sldId id="257"/>
          </p14:sldIdLst>
        </p14:section>
        <p14:section name="技術亮點" id="{7c390eef-7f37-8423-f379-7fb1199064b5}">
          <p14:sldIdLst>
            <p14:sldId id="258"/>
          </p14:sldIdLst>
        </p14:section>
        <p14:section name="架構創新" id="{b6c60d26-57db-863a-8d5c-b718bc34c0b7}">
          <p14:sldIdLst>
            <p14:sldId id="259"/>
          </p14:sldIdLst>
        </p14:section>
        <p14:section name="韌性呈現" id="{40563a31-165f-389d-d9b6-72f98da74f17}">
          <p14:sldIdLst>
            <p14:sldId id="260"/>
          </p14:sldIdLst>
        </p14:section>
        <p14:section name="啟示" id="{43535bce-5913-379a-dd7c-e1aee5f28f85}">
          <p14:sldIdLst>
            <p14:sldId id="261"/>
            <p14:sldId id="262"/>
          </p14:sldIdLst>
        </p14:section>
        <p14:section name="備用" id="{db97660a-6f0d-45e0-9607-fdee8286d10d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B22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E2B22"/>
                </a:solidFill>
                <a:latin typeface="+mn-lt"/>
              </a:rPr>
              <a:t>太魯閣：崩塌占坡面越大越抓得到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被抓到的比例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&lt;5%</c:v>
                  </c:pt>
                  <c:pt idx="1">
                    <c:v>5–10%</c:v>
                  </c:pt>
                  <c:pt idx="2">
                    <c:v>10–20%</c:v>
                  </c:pt>
                  <c:pt idx="3">
                    <c:v>20–40%</c:v>
                  </c:pt>
                  <c:pt idx="4">
                    <c:v>≥40%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15</c:v>
                </c:pt>
                <c:pt idx="2">
                  <c:v>42</c:v>
                </c:pt>
                <c:pt idx="3">
                  <c:v>75</c:v>
                </c:pt>
                <c:pt idx="4">
                  <c:v>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B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B22"/>
                </a:solidFill>
                <a:latin typeface="+mn-lt"/>
              </a:rPr>
              <a:t>此坡面 NDRE：地震後 0.53 → 0.20，之後沒有回來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此坡面</c:v>
                </c:pt>
              </c:strCache>
            </c:strRef>
          </c:tx>
          <c:spPr>
            <a:solidFill>
              <a:srgbClr val="B85042"/>
            </a:solidFill>
            <a:ln w="3175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23/04</c:v>
                  </c:pt>
                  <c:pt idx="1">
                    <c:v>23/05</c:v>
                  </c:pt>
                  <c:pt idx="2">
                    <c:v>23/06</c:v>
                  </c:pt>
                  <c:pt idx="3">
                    <c:v>23/07</c:v>
                  </c:pt>
                  <c:pt idx="4">
                    <c:v>23/08</c:v>
                  </c:pt>
                  <c:pt idx="5">
                    <c:v>23/09</c:v>
                  </c:pt>
                  <c:pt idx="6">
                    <c:v>23/10</c:v>
                  </c:pt>
                  <c:pt idx="7">
                    <c:v>23/11</c:v>
                  </c:pt>
                  <c:pt idx="8">
                    <c:v>23/12</c:v>
                  </c:pt>
                  <c:pt idx="9">
                    <c:v>24/01</c:v>
                  </c:pt>
                  <c:pt idx="10">
                    <c:v>24/02</c:v>
                  </c:pt>
                  <c:pt idx="11">
                    <c:v>24/03</c:v>
                  </c:pt>
                  <c:pt idx="12">
                    <c:v>24/04</c:v>
                  </c:pt>
                  <c:pt idx="13">
                    <c:v>24/05</c:v>
                  </c:pt>
                  <c:pt idx="14">
                    <c:v>24/06</c:v>
                  </c:pt>
                  <c:pt idx="15">
                    <c:v>24/07</c:v>
                  </c:pt>
                  <c:pt idx="16">
                    <c:v>24/08</c:v>
                  </c:pt>
                  <c:pt idx="17">
                    <c:v>24/09</c:v>
                  </c:pt>
                  <c:pt idx="18">
                    <c:v>24/10</c:v>
                  </c:pt>
                  <c:pt idx="19">
                    <c:v>24/11</c:v>
                  </c:pt>
                  <c:pt idx="20">
                    <c:v>24/12</c:v>
                  </c:pt>
                  <c:pt idx="21">
                    <c:v>25/01</c:v>
                  </c:pt>
                  <c:pt idx="22">
                    <c:v>25/02</c:v>
                  </c:pt>
                  <c:pt idx="23">
                    <c:v>25/03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0.342</c:v>
                </c:pt>
                <c:pt idx="1">
                  <c:v>0.54</c:v>
                </c:pt>
                <c:pt idx="2">
                  <c:v>0.549</c:v>
                </c:pt>
                <c:pt idx="3">
                  <c:v>0.622</c:v>
                </c:pt>
                <c:pt idx="4">
                  <c:v/>
                </c:pt>
                <c:pt idx="5">
                  <c:v>0.492</c:v>
                </c:pt>
                <c:pt idx="6">
                  <c:v/>
                </c:pt>
                <c:pt idx="7">
                  <c:v/>
                </c:pt>
                <c:pt idx="8">
                  <c:v>0.471</c:v>
                </c:pt>
                <c:pt idx="9">
                  <c:v>0.569</c:v>
                </c:pt>
                <c:pt idx="10">
                  <c:v>0.543</c:v>
                </c:pt>
                <c:pt idx="11">
                  <c:v>0.528</c:v>
                </c:pt>
                <c:pt idx="12">
                  <c:v>0.223</c:v>
                </c:pt>
                <c:pt idx="13">
                  <c:v>0.04</c:v>
                </c:pt>
                <c:pt idx="14">
                  <c:v>0.048</c:v>
                </c:pt>
                <c:pt idx="15">
                  <c:v>0.172</c:v>
                </c:pt>
                <c:pt idx="16">
                  <c:v>0.13</c:v>
                </c:pt>
                <c:pt idx="17">
                  <c:v/>
                </c:pt>
                <c:pt idx="18">
                  <c:v>0.148</c:v>
                </c:pt>
                <c:pt idx="19">
                  <c:v>0.063</c:v>
                </c:pt>
                <c:pt idx="20">
                  <c:v>0.204</c:v>
                </c:pt>
                <c:pt idx="21">
                  <c:v>0.138</c:v>
                </c:pt>
                <c:pt idx="22">
                  <c:v/>
                </c:pt>
                <c:pt idx="23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全區中位數</c:v>
                </c:pt>
              </c:strCache>
            </c:strRef>
          </c:tx>
          <c:spPr>
            <a:solidFill>
              <a:srgbClr val="5E6B63"/>
            </a:solidFill>
            <a:ln w="31750" cap="flat">
              <a:solidFill>
                <a:srgbClr val="5E6B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E6B63"/>
              </a:solidFill>
              <a:ln w="9525" cap="flat">
                <a:solidFill>
                  <a:srgbClr val="5E6B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23/04</c:v>
                  </c:pt>
                  <c:pt idx="1">
                    <c:v>23/05</c:v>
                  </c:pt>
                  <c:pt idx="2">
                    <c:v>23/06</c:v>
                  </c:pt>
                  <c:pt idx="3">
                    <c:v>23/07</c:v>
                  </c:pt>
                  <c:pt idx="4">
                    <c:v>23/08</c:v>
                  </c:pt>
                  <c:pt idx="5">
                    <c:v>23/09</c:v>
                  </c:pt>
                  <c:pt idx="6">
                    <c:v>23/10</c:v>
                  </c:pt>
                  <c:pt idx="7">
                    <c:v>23/11</c:v>
                  </c:pt>
                  <c:pt idx="8">
                    <c:v>23/12</c:v>
                  </c:pt>
                  <c:pt idx="9">
                    <c:v>24/01</c:v>
                  </c:pt>
                  <c:pt idx="10">
                    <c:v>24/02</c:v>
                  </c:pt>
                  <c:pt idx="11">
                    <c:v>24/03</c:v>
                  </c:pt>
                  <c:pt idx="12">
                    <c:v>24/04</c:v>
                  </c:pt>
                  <c:pt idx="13">
                    <c:v>24/05</c:v>
                  </c:pt>
                  <c:pt idx="14">
                    <c:v>24/06</c:v>
                  </c:pt>
                  <c:pt idx="15">
                    <c:v>24/07</c:v>
                  </c:pt>
                  <c:pt idx="16">
                    <c:v>24/08</c:v>
                  </c:pt>
                  <c:pt idx="17">
                    <c:v>24/09</c:v>
                  </c:pt>
                  <c:pt idx="18">
                    <c:v>24/10</c:v>
                  </c:pt>
                  <c:pt idx="19">
                    <c:v>24/11</c:v>
                  </c:pt>
                  <c:pt idx="20">
                    <c:v>24/12</c:v>
                  </c:pt>
                  <c:pt idx="21">
                    <c:v>25/01</c:v>
                  </c:pt>
                  <c:pt idx="22">
                    <c:v>25/02</c:v>
                  </c:pt>
                  <c:pt idx="23">
                    <c:v>25/03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0.559</c:v>
                </c:pt>
                <c:pt idx="1">
                  <c:v>0.537</c:v>
                </c:pt>
                <c:pt idx="2">
                  <c:v>0.592</c:v>
                </c:pt>
                <c:pt idx="3">
                  <c:v>0.61</c:v>
                </c:pt>
                <c:pt idx="4">
                  <c:v>0.628</c:v>
                </c:pt>
                <c:pt idx="5">
                  <c:v>0.643</c:v>
                </c:pt>
                <c:pt idx="6">
                  <c:v>0.566</c:v>
                </c:pt>
                <c:pt idx="7">
                  <c:v>0.603</c:v>
                </c:pt>
                <c:pt idx="8">
                  <c:v>0.58</c:v>
                </c:pt>
                <c:pt idx="9">
                  <c:v>0.629</c:v>
                </c:pt>
                <c:pt idx="10">
                  <c:v>0.563</c:v>
                </c:pt>
                <c:pt idx="11">
                  <c:v>0.58</c:v>
                </c:pt>
                <c:pt idx="12">
                  <c:v>0.53</c:v>
                </c:pt>
                <c:pt idx="13">
                  <c:v>0.379</c:v>
                </c:pt>
                <c:pt idx="14">
                  <c:v>0.565</c:v>
                </c:pt>
                <c:pt idx="15">
                  <c:v>0.609</c:v>
                </c:pt>
                <c:pt idx="16">
                  <c:v>0.625</c:v>
                </c:pt>
                <c:pt idx="17">
                  <c:v>0.613</c:v>
                </c:pt>
                <c:pt idx="18">
                  <c:v>0.59</c:v>
                </c:pt>
                <c:pt idx="19">
                  <c:v>0.597</c:v>
                </c:pt>
                <c:pt idx="20">
                  <c:v>0.615</c:v>
                </c:pt>
                <c:pt idx="21">
                  <c:v>0.624</c:v>
                </c:pt>
                <c:pt idx="22">
                  <c:v>0.592</c:v>
                </c:pt>
                <c:pt idx="23">
                  <c:v>0.518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D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B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B22"/>
                </a:solidFill>
                <a:latin typeface="+mn-lt"/>
              </a:rPr>
              <a:t>太魯閣：崩塌占坡面越大，越抓得到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被抓到的比例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&lt;5%</c:v>
                  </c:pt>
                  <c:pt idx="1">
                    <c:v>5–10%</c:v>
                  </c:pt>
                  <c:pt idx="2">
                    <c:v>10–20%</c:v>
                  </c:pt>
                  <c:pt idx="3">
                    <c:v>20–40%</c:v>
                  </c:pt>
                  <c:pt idx="4">
                    <c:v>≥40%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15</c:v>
                </c:pt>
                <c:pt idx="2">
                  <c:v>42</c:v>
                </c:pt>
                <c:pt idx="3">
                  <c:v>75</c:v>
                </c:pt>
                <c:pt idx="4">
                  <c:v>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我們是 TASTI_SatDashboard。這個系統不是要取代崩塌判釋，而是把水保署已經有的事件型崩塌目錄、歷史現地照片和近期衛星影像，整理成每個坡面的證據鏈。一句話：機器幫忙決定先看誰，證據鏈告訴你為什麼，最後由人決定要不要去。（約 20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巡查人力有限，但山區坡面上萬個。要判斷先去哪裡，證據散在三個地方：事件型崩塌目錄、現地歷史照片、近期衛星影像，各有盲點。以高雄 POC 為例，約 1,800 平方公里、1 萬 3 千個坡面、近 9 千張現地照片。（約 40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技術亮點有三個。第一，以坡面為單位：依輔導委員建議用集水區重疊法切出 1 萬 3 千個坡面，每個都是完整區塊。第二，用免費的 Sentinel-2 紅邊時間序列，在花蓮、太魯閣大事件後抓到 75% 和 43% 的崩塌坡面，沒有事件的坡面誤報約 2%；中間這張圖顯示，崩塌占坡面越大越抓得到。第三，水保署歷史影像平台上的 UAV 照片沒有 GPS，我們用特徵匹配和 20 m 地形自動對位，目前 50 組，其中 19 組在高雄，留出點誤差中位數約 2 公尺。重點是：每個數字我們都量過準確度。（約 50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上，資料全部是開放資料，切成坡面單元後，每個坡面掛五類證據：事件目錄是主骨架，照片是補充，衛星只回答最近還有沒有變化，再加上影像品質提醒，以及崩了會碰到什麼——道路、聚落和土石流潛勢溪流。我們刻意不給總分，因為分數會掩蓋為什麼；看不到就標資料不足；驗證紀錄可以稽核。最後只給三種候選層級，由人決定要不要去。（約 45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韌性呈現在於每個坡面都有一份履歷。左邊是太魯閣一個坡面：橘線是官方圈出的地震崩塌，地震後紅邊指標從 0.53 掉到 0.20，之後沒有回來，全區只是正常季節起伏。太魯閣 330 個持續下降的坡面中，229 個出現在地震當月，大事件後幾週內就能列出要先看的坡面。履歷也回答崩了會碰到誰：高雄 411 個優先坡面中，200 個附近有道路，67 個位在土石流潛勢溪流集水區。（約 55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對公部門的啟示：我們量了準確度。大事件後，花蓮 75%、太魯閣 43% 的崩塌坡面被抓到；但平時零星的紅邊下降，經分層盲判只有約 25% 屬實；連人看影像和官方圖層的一致率也只有 69%。所以自動訊號只能排先看誰，不能拿來判定，導入前一定要先量。這套流程全用開放資料、可以搬到其他流域；而 UAV 照片上傳時保留座標、事件目錄附判釋日期，這種小改變就能省下大量事後工作。（約 50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最後，對全民的啟示：坡地資訊要看得懂、查得到、也能一起補。我們不給風險分數，看不到就說看不到；每個坡面頁列出附近的道路、建物和土石流潛勢溪流，還能用 3D 和逐年航照看；山區建物在 OpenStreetMap 常缺漏，志工補上的每一筆都有用，程式全部開源。我們不是重新發明崩塌判釋，而是把既有證據整理成可追蹤的坡面履歷：機器幫忙決定先看誰，證據鏈告訴你為什麼，最後由人決定要不要去。謝謝。（約 40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我們不只做系統，也量了它準不準。影像目視與官方圖層的有無裸露一致率只有 69%；舊版近期變化訊號約四分之一屬實。我們參考水保署電子報改用紅邊指標。在高雄全區，零星的下降經分層盲判只有約 25% 屬實，信賴區間 5% 到 45%；但在大事件後，花蓮有 75%、太魯閣有 43% 的崩塌坡面被抓到，沒有事件的坡面誤報約 2%。左邊這張圖是太魯閣：崩塌占坡面不到 5% 時只抓到 7%，超過四成時抓到 93%。所以紅邊指標適合大事件後快速找出植被大片消失的坡面，自動訊號只用來排出先看誰，最後一定由人確認。（約 55 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（備用，評審問到系統藍圖或下一步時再翻。）專家提出的崩塌智慧防災平台有六個模組。我們目前做到的是平時篩查：坡地底圖、多源監測和 AI 輔助判釋都有一部分，其中道路與建物暴露是用 OpenStreetMap 疊合，回答坡面崩了會碰到什麼，但不改候選層級。地質目前只拿到影像圖磚，五萬分之一的斷層、位態、順向坡要取得向量後才能分析。下游影響目前只列出坡面所在的土石流潛勢溪流集水區與影響範圍；降雨觸發、土砂與河道的動態串接和應變工作流還沒做，這是從平時篩查走向事件反應的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（備用，評審問到地質時再翻。）我們用 BigGIS 引用的公開地層圖，疊上 2021 到 2024 年的年度崩塌圖層，以坡度 15 度以上的有效坡面當分母，算每個地層的崩塌密度。全區約 5.3%；始新世的西村層，也就是板岩，8.1%，是平均的 1.5 倍；上新世的錦水頁岩只有 1.7%。紅邊下降的比例在幾個主要地層都約 2%，差異不大。限制是這份地層圖比例尺小，沒有斷層和位態，只能做描述性統計；斷層距離和順向坡要取得五萬分之一的向量才能分析。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TASTI_SatDashboard・OSSInt 2026 決賽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gi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地景複發熱點觀測站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坡地韌性哨兵</a:t>
            </a:r>
            <a:endParaRPr lang="en-US" sz="2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把事件目錄、現地照片與衛星影像，整理成每個坡面的證據鏈</a:t>
            </a:r>
            <a:endParaRPr lang="en-US" sz="2600" dirty="0"/>
          </a:p>
        </p:txBody>
      </p:sp>
      <p:sp>
        <p:nvSpPr>
          <p:cNvPr id="4" name="flow0"/>
          <p:cNvSpPr/>
          <p:nvPr/>
        </p:nvSpPr>
        <p:spPr>
          <a:xfrm>
            <a:off x="731520" y="4069080"/>
            <a:ext cx="32918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flow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343400"/>
            <a:ext cx="548640" cy="548640"/>
          </a:xfrm>
          <a:prstGeom prst="rect">
            <a:avLst/>
          </a:prstGeom>
        </p:spPr>
      </p:pic>
      <p:sp>
        <p:nvSpPr>
          <p:cNvPr id="6" name="flowText0"/>
          <p:cNvSpPr txBox="1"/>
          <p:nvPr/>
        </p:nvSpPr>
        <p:spPr>
          <a:xfrm>
            <a:off x="1691640" y="41605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機器幫忙決定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先看誰</a:t>
            </a:r>
            <a:endParaRPr lang="en-US" sz="1600" dirty="0"/>
          </a:p>
        </p:txBody>
      </p:sp>
      <p:sp>
        <p:nvSpPr>
          <p:cNvPr id="7" name="flow1"/>
          <p:cNvSpPr/>
          <p:nvPr/>
        </p:nvSpPr>
        <p:spPr>
          <a:xfrm>
            <a:off x="4343400" y="4069080"/>
            <a:ext cx="32918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flow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43400"/>
            <a:ext cx="548640" cy="548640"/>
          </a:xfrm>
          <a:prstGeom prst="rect">
            <a:avLst/>
          </a:prstGeom>
        </p:spPr>
      </p:pic>
      <p:sp>
        <p:nvSpPr>
          <p:cNvPr id="9" name="flowText1"/>
          <p:cNvSpPr txBox="1"/>
          <p:nvPr/>
        </p:nvSpPr>
        <p:spPr>
          <a:xfrm>
            <a:off x="5303520" y="41605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證據鏈告訴你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為什麼</a:t>
            </a:r>
            <a:endParaRPr lang="en-US" sz="1600" dirty="0"/>
          </a:p>
        </p:txBody>
      </p:sp>
      <p:sp>
        <p:nvSpPr>
          <p:cNvPr id="10" name="flow2"/>
          <p:cNvSpPr/>
          <p:nvPr/>
        </p:nvSpPr>
        <p:spPr>
          <a:xfrm>
            <a:off x="7955280" y="4069080"/>
            <a:ext cx="32918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flow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343400"/>
            <a:ext cx="548640" cy="548640"/>
          </a:xfrm>
          <a:prstGeom prst="rect">
            <a:avLst/>
          </a:prstGeom>
        </p:spPr>
      </p:pic>
      <p:sp>
        <p:nvSpPr>
          <p:cNvPr id="12" name="flowText2"/>
          <p:cNvSpPr txBox="1"/>
          <p:nvPr/>
        </p:nvSpPr>
        <p:spPr>
          <a:xfrm>
            <a:off x="8915400" y="41605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最後由人決定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要不要去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TASTI_SatDashboard｜開源空間資訊於國家韌性應用黑客松 OSSInt 2026 決賽　　rhynowu-ardswc-resilience-observatory.hf.space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巡查先看哪裡？證據散在三個地方</a:t>
            </a:r>
            <a:endParaRPr lang="en-US" sz="3200" dirty="0"/>
          </a:p>
        </p:txBody>
      </p:sp>
      <p:sp>
        <p:nvSpPr>
          <p:cNvPr id="3" name="src0"/>
          <p:cNvSpPr/>
          <p:nvPr/>
        </p:nvSpPr>
        <p:spPr>
          <a:xfrm>
            <a:off x="548640" y="141732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rc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594360" cy="594360"/>
          </a:xfrm>
          <a:prstGeom prst="rect">
            <a:avLst/>
          </a:prstGeom>
        </p:spPr>
      </p:pic>
      <p:sp>
        <p:nvSpPr>
          <p:cNvPr id="5" name="srcH0"/>
          <p:cNvSpPr txBox="1"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事件型崩塌目錄</a:t>
            </a:r>
            <a:endParaRPr lang="en-US" sz="2000" dirty="0"/>
          </a:p>
        </p:txBody>
      </p:sp>
      <p:sp>
        <p:nvSpPr>
          <p:cNvPr id="6" name="srcD0"/>
          <p:cNvSpPr txBox="1"/>
          <p:nvPr/>
        </p:nvSpPr>
        <p:spPr>
          <a:xfrm>
            <a:off x="822960" y="2971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衛星判釋每次事件「新生或擴大」的部分；只涵蓋看得到的大事件</a:t>
            </a:r>
            <a:endParaRPr lang="en-US" sz="1500" dirty="0"/>
          </a:p>
        </p:txBody>
      </p:sp>
      <p:sp>
        <p:nvSpPr>
          <p:cNvPr id="7" name="src1"/>
          <p:cNvSpPr/>
          <p:nvPr/>
        </p:nvSpPr>
        <p:spPr>
          <a:xfrm>
            <a:off x="4297680" y="141732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src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1640"/>
            <a:ext cx="594360" cy="594360"/>
          </a:xfrm>
          <a:prstGeom prst="rect">
            <a:avLst/>
          </a:prstGeom>
        </p:spPr>
      </p:pic>
      <p:sp>
        <p:nvSpPr>
          <p:cNvPr id="9" name="srcH1"/>
          <p:cNvSpPr txBox="1"/>
          <p:nvPr/>
        </p:nvSpPr>
        <p:spPr>
          <a:xfrm>
            <a:off x="45720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現地歷史照片</a:t>
            </a:r>
            <a:endParaRPr lang="en-US" sz="2000" dirty="0"/>
          </a:p>
        </p:txBody>
      </p:sp>
      <p:sp>
        <p:nvSpPr>
          <p:cNvPr id="10" name="srcD1"/>
          <p:cNvSpPr txBox="1"/>
          <p:nvPr/>
        </p:nvSpPr>
        <p:spPr>
          <a:xfrm>
            <a:off x="4572000" y="2971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補小型崩塌、落石、道路邊坡；多拍在道路可達處</a:t>
            </a:r>
            <a:endParaRPr lang="en-US" sz="1500" dirty="0"/>
          </a:p>
        </p:txBody>
      </p:sp>
      <p:sp>
        <p:nvSpPr>
          <p:cNvPr id="11" name="src2"/>
          <p:cNvSpPr/>
          <p:nvPr/>
        </p:nvSpPr>
        <p:spPr>
          <a:xfrm>
            <a:off x="8046720" y="141732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src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91640"/>
            <a:ext cx="594360" cy="594360"/>
          </a:xfrm>
          <a:prstGeom prst="rect">
            <a:avLst/>
          </a:prstGeom>
        </p:spPr>
      </p:pic>
      <p:sp>
        <p:nvSpPr>
          <p:cNvPr id="13" name="srcH2"/>
          <p:cNvSpPr txBox="1"/>
          <p:nvPr/>
        </p:nvSpPr>
        <p:spPr>
          <a:xfrm>
            <a:off x="83210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近期衛星影像</a:t>
            </a:r>
            <a:endParaRPr lang="en-US" sz="2000" dirty="0"/>
          </a:p>
        </p:txBody>
      </p:sp>
      <p:sp>
        <p:nvSpPr>
          <p:cNvPr id="14" name="srcD2"/>
          <p:cNvSpPr txBox="1"/>
          <p:nvPr/>
        </p:nvSpPr>
        <p:spPr>
          <a:xfrm>
            <a:off x="8321040" y="2971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Sentinel-2 約每 5 天一次；Wayback 解析度高、拍攝不定期</a:t>
            </a:r>
            <a:endParaRPr lang="en-US" sz="1500" dirty="0"/>
          </a:p>
        </p:txBody>
      </p:sp>
      <p:sp>
        <p:nvSpPr>
          <p:cNvPr id="15" name="stat0"/>
          <p:cNvSpPr txBox="1"/>
          <p:nvPr/>
        </p:nvSpPr>
        <p:spPr>
          <a:xfrm>
            <a:off x="548640" y="4206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約 1,800 km²</a:t>
            </a:r>
            <a:endParaRPr lang="en-US" sz="3600" dirty="0"/>
          </a:p>
        </p:txBody>
      </p:sp>
      <p:sp>
        <p:nvSpPr>
          <p:cNvPr id="16" name="statL0"/>
          <p:cNvSpPr txBox="1"/>
          <p:nvPr/>
        </p:nvSpPr>
        <p:spPr>
          <a:xfrm>
            <a:off x="54864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高雄 POC（桃源・那瑪夏・六龜・甲仙）</a:t>
            </a:r>
            <a:endParaRPr lang="en-US" sz="1400" dirty="0"/>
          </a:p>
        </p:txBody>
      </p:sp>
      <p:sp>
        <p:nvSpPr>
          <p:cNvPr id="17" name="stat1"/>
          <p:cNvSpPr txBox="1"/>
          <p:nvPr/>
        </p:nvSpPr>
        <p:spPr>
          <a:xfrm>
            <a:off x="4297680" y="4206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13,175</a:t>
            </a:r>
            <a:endParaRPr lang="en-US" sz="3600" dirty="0"/>
          </a:p>
        </p:txBody>
      </p:sp>
      <p:sp>
        <p:nvSpPr>
          <p:cNvPr id="18" name="statL1"/>
          <p:cNvSpPr txBox="1"/>
          <p:nvPr/>
        </p:nvSpPr>
        <p:spPr>
          <a:xfrm>
            <a:off x="429768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個坡面單元</a:t>
            </a:r>
            <a:endParaRPr lang="en-US" sz="1400" dirty="0"/>
          </a:p>
        </p:txBody>
      </p:sp>
      <p:sp>
        <p:nvSpPr>
          <p:cNvPr id="19" name="stat2"/>
          <p:cNvSpPr txBox="1"/>
          <p:nvPr/>
        </p:nvSpPr>
        <p:spPr>
          <a:xfrm>
            <a:off x="8046720" y="4206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8,856</a:t>
            </a:r>
            <a:endParaRPr lang="en-US" sz="3600" dirty="0"/>
          </a:p>
        </p:txBody>
      </p:sp>
      <p:sp>
        <p:nvSpPr>
          <p:cNvPr id="20" name="statL2"/>
          <p:cNvSpPr txBox="1"/>
          <p:nvPr/>
        </p:nvSpPr>
        <p:spPr>
          <a:xfrm>
            <a:off x="804672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張現地照片落在 POC 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技術亮點：免費衛星＋開放資料，每個數字都量過</a:t>
            </a:r>
            <a:endParaRPr lang="en-US" sz="3200" dirty="0"/>
          </a:p>
        </p:txBody>
      </p:sp>
      <p:sp>
        <p:nvSpPr>
          <p:cNvPr id="3" name="techBg0"/>
          <p:cNvSpPr/>
          <p:nvPr/>
        </p:nvSpPr>
        <p:spPr>
          <a:xfrm>
            <a:off x="548640" y="1234440"/>
            <a:ext cx="3566160" cy="49834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techImg0" descr="v2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3291840" cy="2514600"/>
          </a:xfrm>
          <a:prstGeom prst="rect">
            <a:avLst/>
          </a:prstGeom>
        </p:spPr>
      </p:pic>
      <p:sp>
        <p:nvSpPr>
          <p:cNvPr id="5" name="techN0"/>
          <p:cNvSpPr txBox="1"/>
          <p:nvPr/>
        </p:nvSpPr>
        <p:spPr>
          <a:xfrm>
            <a:off x="77724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13,175</a:t>
            </a:r>
            <a:endParaRPr lang="en-US" sz="3200" dirty="0"/>
          </a:p>
        </p:txBody>
      </p:sp>
      <p:sp>
        <p:nvSpPr>
          <p:cNvPr id="6" name="techH0"/>
          <p:cNvSpPr txBox="1"/>
          <p:nvPr/>
        </p:nvSpPr>
        <p:spPr>
          <a:xfrm>
            <a:off x="77724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個坡面單元，不是網格</a:t>
            </a:r>
            <a:endParaRPr lang="en-US" sz="1600" dirty="0"/>
          </a:p>
        </p:txBody>
      </p:sp>
      <p:sp>
        <p:nvSpPr>
          <p:cNvPr id="7" name="techD0"/>
          <p:cNvSpPr txBox="1"/>
          <p:nvPr/>
        </p:nvSpPr>
        <p:spPr>
          <a:xfrm>
            <a:off x="777240" y="50749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集水區重疊法切分；12,730 個有 ≥15° 有效坡面。舊版 85% 不連續 → 0%</a:t>
            </a:r>
            <a:endParaRPr lang="en-US" sz="1300" dirty="0"/>
          </a:p>
        </p:txBody>
      </p:sp>
      <p:sp>
        <p:nvSpPr>
          <p:cNvPr id="8" name="techBg1"/>
          <p:cNvSpPr/>
          <p:nvPr/>
        </p:nvSpPr>
        <p:spPr>
          <a:xfrm>
            <a:off x="4297680" y="1234440"/>
            <a:ext cx="3566160" cy="49834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chN1"/>
          <p:cNvSpPr txBox="1"/>
          <p:nvPr/>
        </p:nvSpPr>
        <p:spPr>
          <a:xfrm>
            <a:off x="452628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75%・43%</a:t>
            </a:r>
            <a:endParaRPr lang="en-US" sz="3200" dirty="0"/>
          </a:p>
        </p:txBody>
      </p:sp>
      <p:sp>
        <p:nvSpPr>
          <p:cNvPr id="10" name="techH1"/>
          <p:cNvSpPr txBox="1"/>
          <p:nvPr/>
        </p:nvSpPr>
        <p:spPr>
          <a:xfrm>
            <a:off x="452628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大事件後抓到崩塌坡面</a:t>
            </a:r>
            <a:endParaRPr lang="en-US" sz="1600" dirty="0"/>
          </a:p>
        </p:txBody>
      </p:sp>
      <p:sp>
        <p:nvSpPr>
          <p:cNvPr id="11" name="techD1"/>
          <p:cNvSpPr txBox="1"/>
          <p:nvPr/>
        </p:nvSpPr>
        <p:spPr>
          <a:xfrm>
            <a:off x="4526280" y="50749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Sentinel-2 紅邊時間序列（花蓮・太魯閣）；沒事件的坡面誤報約 2%</a:t>
            </a:r>
            <a:endParaRPr lang="en-US" sz="1300" dirty="0"/>
          </a:p>
        </p:txBody>
      </p:sp>
      <p:sp>
        <p:nvSpPr>
          <p:cNvPr id="12" name="techBg2"/>
          <p:cNvSpPr/>
          <p:nvPr/>
        </p:nvSpPr>
        <p:spPr>
          <a:xfrm>
            <a:off x="8046720" y="1234440"/>
            <a:ext cx="3566160" cy="49834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techImg2" descr="uav_baolai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83880" y="1371600"/>
            <a:ext cx="3291840" cy="2514600"/>
          </a:xfrm>
          <a:prstGeom prst="rect">
            <a:avLst/>
          </a:prstGeom>
        </p:spPr>
      </p:pic>
      <p:sp>
        <p:nvSpPr>
          <p:cNvPr id="14" name="techN2"/>
          <p:cNvSpPr txBox="1"/>
          <p:nvPr/>
        </p:nvSpPr>
        <p:spPr>
          <a:xfrm>
            <a:off x="827532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50</a:t>
            </a:r>
            <a:endParaRPr lang="en-US" sz="3200" dirty="0"/>
          </a:p>
        </p:txBody>
      </p:sp>
      <p:sp>
        <p:nvSpPr>
          <p:cNvPr id="15" name="techH2"/>
          <p:cNvSpPr txBox="1"/>
          <p:nvPr/>
        </p:nvSpPr>
        <p:spPr>
          <a:xfrm>
            <a:off x="827532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組沒有 GPS 的 UAV 照片自動對位</a:t>
            </a:r>
            <a:endParaRPr lang="en-US" sz="1600" dirty="0"/>
          </a:p>
        </p:txBody>
      </p:sp>
      <p:sp>
        <p:nvSpPr>
          <p:cNvPr id="16" name="techD2"/>
          <p:cNvSpPr txBox="1"/>
          <p:nvPr/>
        </p:nvSpPr>
        <p:spPr>
          <a:xfrm>
            <a:off x="8275320" y="50749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LoFTR 特徵匹配＋20 m DTM，貼回地形；19 組在高雄，誤差中位數 2.2 m</a:t>
            </a:r>
            <a:endParaRPr lang="en-US" sz="1300" dirty="0"/>
          </a:p>
        </p:txBody>
      </p:sp>
      <p:graphicFrame>
        <p:nvGraphicFramePr>
          <p:cNvPr id="17" name="techChart" descr=""/>
          <p:cNvGraphicFramePr/>
          <p:nvPr/>
        </p:nvGraphicFramePr>
        <p:xfrm>
          <a:off x="4434840" y="1371600"/>
          <a:ext cx="32918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架構創新：證據鏈分開呈現，不給總分，最後由人決定</a:t>
            </a:r>
            <a:endParaRPr lang="en-US" sz="3200" dirty="0"/>
          </a:p>
        </p:txBody>
      </p:sp>
      <p:sp>
        <p:nvSpPr>
          <p:cNvPr id="3" name="flw0"/>
          <p:cNvSpPr/>
          <p:nvPr/>
        </p:nvSpPr>
        <p:spPr>
          <a:xfrm>
            <a:off x="548640" y="1280160"/>
            <a:ext cx="2075688" cy="132588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wT0"/>
          <p:cNvSpPr txBox="1"/>
          <p:nvPr/>
        </p:nvSpPr>
        <p:spPr>
          <a:xfrm>
            <a:off x="685800" y="1325880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開放資料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事件目錄・年度圖層・照片・Sentinel-2・DEM・OSM</a:t>
            </a:r>
            <a:endParaRPr lang="en-US" sz="1700" dirty="0"/>
          </a:p>
        </p:txBody>
      </p:sp>
      <p:sp>
        <p:nvSpPr>
          <p:cNvPr id="5" name="flwA0"/>
          <p:cNvSpPr txBox="1"/>
          <p:nvPr/>
        </p:nvSpPr>
        <p:spPr>
          <a:xfrm>
            <a:off x="2596896" y="178308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▶</a:t>
            </a:r>
            <a:endParaRPr lang="en-US" sz="1200" dirty="0"/>
          </a:p>
        </p:txBody>
      </p:sp>
      <p:sp>
        <p:nvSpPr>
          <p:cNvPr id="6" name="flw1"/>
          <p:cNvSpPr/>
          <p:nvPr/>
        </p:nvSpPr>
        <p:spPr>
          <a:xfrm>
            <a:off x="2807208" y="1280160"/>
            <a:ext cx="2075688" cy="132588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wT1"/>
          <p:cNvSpPr txBox="1"/>
          <p:nvPr/>
        </p:nvSpPr>
        <p:spPr>
          <a:xfrm>
            <a:off x="2944368" y="1325880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坡面單元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SUv2，版本化 ID</a:t>
            </a:r>
            <a:endParaRPr lang="en-US" sz="1700" dirty="0"/>
          </a:p>
        </p:txBody>
      </p:sp>
      <p:sp>
        <p:nvSpPr>
          <p:cNvPr id="8" name="flwA1"/>
          <p:cNvSpPr txBox="1"/>
          <p:nvPr/>
        </p:nvSpPr>
        <p:spPr>
          <a:xfrm>
            <a:off x="4855464" y="178308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flw2"/>
          <p:cNvSpPr/>
          <p:nvPr/>
        </p:nvSpPr>
        <p:spPr>
          <a:xfrm>
            <a:off x="5065776" y="1280160"/>
            <a:ext cx="2075688" cy="132588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wT2"/>
          <p:cNvSpPr txBox="1"/>
          <p:nvPr/>
        </p:nvSpPr>
        <p:spPr>
          <a:xfrm>
            <a:off x="5202936" y="1325880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證據鏈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五類證據，各附限制</a:t>
            </a:r>
            <a:endParaRPr lang="en-US" sz="1700" dirty="0"/>
          </a:p>
        </p:txBody>
      </p:sp>
      <p:sp>
        <p:nvSpPr>
          <p:cNvPr id="11" name="flwA2"/>
          <p:cNvSpPr txBox="1"/>
          <p:nvPr/>
        </p:nvSpPr>
        <p:spPr>
          <a:xfrm>
            <a:off x="7114032" y="178308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flw3"/>
          <p:cNvSpPr/>
          <p:nvPr/>
        </p:nvSpPr>
        <p:spPr>
          <a:xfrm>
            <a:off x="7324344" y="1280160"/>
            <a:ext cx="2075688" cy="132588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lwT3"/>
          <p:cNvSpPr txBox="1"/>
          <p:nvPr/>
        </p:nvSpPr>
        <p:spPr>
          <a:xfrm>
            <a:off x="7461504" y="1325880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三種候選層級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優先・一般・資料不足</a:t>
            </a:r>
            <a:endParaRPr lang="en-US" sz="1700" dirty="0"/>
          </a:p>
        </p:txBody>
      </p:sp>
      <p:sp>
        <p:nvSpPr>
          <p:cNvPr id="14" name="flwA3"/>
          <p:cNvSpPr txBox="1"/>
          <p:nvPr/>
        </p:nvSpPr>
        <p:spPr>
          <a:xfrm>
            <a:off x="9372600" y="178308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flw4"/>
          <p:cNvSpPr/>
          <p:nvPr/>
        </p:nvSpPr>
        <p:spPr>
          <a:xfrm>
            <a:off x="9582912" y="1280160"/>
            <a:ext cx="2075688" cy="1325880"/>
          </a:xfrm>
          <a:prstGeom prst="roundRect">
            <a:avLst>
              <a:gd name="adj" fmla="val 689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lwT4"/>
          <p:cNvSpPr txBox="1"/>
          <p:nvPr/>
        </p:nvSpPr>
        <p:spPr>
          <a:xfrm>
            <a:off x="9720072" y="1325880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人決定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要不要現勘；結果回饋規則</a:t>
            </a:r>
            <a:endParaRPr lang="en-US" sz="1700" dirty="0"/>
          </a:p>
        </p:txBody>
      </p:sp>
      <p:sp>
        <p:nvSpPr>
          <p:cNvPr id="17" name="evLead"/>
          <p:cNvSpPr txBox="1"/>
          <p:nvPr/>
        </p:nvSpPr>
        <p:spPr>
          <a:xfrm>
            <a:off x="54864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每個坡面的五類證據</a:t>
            </a:r>
            <a:endParaRPr lang="en-US" sz="1500" dirty="0"/>
          </a:p>
        </p:txBody>
      </p:sp>
      <p:sp>
        <p:nvSpPr>
          <p:cNvPr id="18" name="ev2D0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ev2N0"/>
          <p:cNvSpPr txBox="1"/>
          <p:nvPr/>
        </p:nvSpPr>
        <p:spPr>
          <a:xfrm>
            <a:off x="5486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①</a:t>
            </a:r>
            <a:endParaRPr lang="en-US" sz="1300" dirty="0"/>
          </a:p>
        </p:txBody>
      </p:sp>
      <p:sp>
        <p:nvSpPr>
          <p:cNvPr id="20" name="ev2T0"/>
          <p:cNvSpPr txBox="1"/>
          <p:nvPr/>
        </p:nvSpPr>
        <p:spPr>
          <a:xfrm>
            <a:off x="109728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事件目錄與年度圖層　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主骨架</a:t>
            </a:r>
            <a:endParaRPr lang="en-US" sz="1400" dirty="0"/>
          </a:p>
        </p:txBody>
      </p:sp>
      <p:sp>
        <p:nvSpPr>
          <p:cNvPr id="21" name="ev2D1"/>
          <p:cNvSpPr/>
          <p:nvPr/>
        </p:nvSpPr>
        <p:spPr>
          <a:xfrm>
            <a:off x="548640" y="389534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v2N1"/>
          <p:cNvSpPr txBox="1"/>
          <p:nvPr/>
        </p:nvSpPr>
        <p:spPr>
          <a:xfrm>
            <a:off x="54864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②</a:t>
            </a:r>
            <a:endParaRPr lang="en-US" sz="1300" dirty="0"/>
          </a:p>
        </p:txBody>
      </p:sp>
      <p:sp>
        <p:nvSpPr>
          <p:cNvPr id="23" name="ev2T1"/>
          <p:cNvSpPr txBox="1"/>
          <p:nvPr/>
        </p:nvSpPr>
        <p:spPr>
          <a:xfrm>
            <a:off x="1097280" y="3858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現地照片　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補充，與①不相加</a:t>
            </a:r>
            <a:endParaRPr lang="en-US" sz="1400" dirty="0"/>
          </a:p>
        </p:txBody>
      </p:sp>
      <p:sp>
        <p:nvSpPr>
          <p:cNvPr id="24" name="ev2D2"/>
          <p:cNvSpPr/>
          <p:nvPr/>
        </p:nvSpPr>
        <p:spPr>
          <a:xfrm>
            <a:off x="548640" y="44622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ev2N2"/>
          <p:cNvSpPr txBox="1"/>
          <p:nvPr/>
        </p:nvSpPr>
        <p:spPr>
          <a:xfrm>
            <a:off x="54864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③</a:t>
            </a:r>
            <a:endParaRPr lang="en-US" sz="1300" dirty="0"/>
          </a:p>
        </p:txBody>
      </p:sp>
      <p:sp>
        <p:nvSpPr>
          <p:cNvPr id="26" name="ev2T2"/>
          <p:cNvSpPr txBox="1"/>
          <p:nvPr/>
        </p:nvSpPr>
        <p:spPr>
          <a:xfrm>
            <a:off x="1097280" y="4425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近期衛星變化　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Sentinel-2 紅邊時間序列</a:t>
            </a:r>
            <a:endParaRPr lang="en-US" sz="1400" dirty="0"/>
          </a:p>
        </p:txBody>
      </p:sp>
      <p:sp>
        <p:nvSpPr>
          <p:cNvPr id="27" name="ev2D3"/>
          <p:cNvSpPr/>
          <p:nvPr/>
        </p:nvSpPr>
        <p:spPr>
          <a:xfrm>
            <a:off x="548640" y="50292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v2N3"/>
          <p:cNvSpPr txBox="1"/>
          <p:nvPr/>
        </p:nvSpPr>
        <p:spPr>
          <a:xfrm>
            <a:off x="54864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④</a:t>
            </a:r>
            <a:endParaRPr lang="en-US" sz="1300" dirty="0"/>
          </a:p>
        </p:txBody>
      </p:sp>
      <p:sp>
        <p:nvSpPr>
          <p:cNvPr id="29" name="ev2T3"/>
          <p:cNvSpPr txBox="1"/>
          <p:nvPr/>
        </p:nvSpPr>
        <p:spPr>
          <a:xfrm>
            <a:off x="1097280" y="49926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影像品質　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雲、陰影、觀測筆數、偏移</a:t>
            </a:r>
            <a:endParaRPr lang="en-US" sz="1400" dirty="0"/>
          </a:p>
        </p:txBody>
      </p:sp>
      <p:sp>
        <p:nvSpPr>
          <p:cNvPr id="30" name="ev2D4"/>
          <p:cNvSpPr/>
          <p:nvPr/>
        </p:nvSpPr>
        <p:spPr>
          <a:xfrm>
            <a:off x="548640" y="55961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ev2N4"/>
          <p:cNvSpPr txBox="1"/>
          <p:nvPr/>
        </p:nvSpPr>
        <p:spPr>
          <a:xfrm>
            <a:off x="54864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⑤</a:t>
            </a:r>
            <a:endParaRPr lang="en-US" sz="1300" dirty="0"/>
          </a:p>
        </p:txBody>
      </p:sp>
      <p:sp>
        <p:nvSpPr>
          <p:cNvPr id="32" name="ev2T4"/>
          <p:cNvSpPr txBox="1"/>
          <p:nvPr/>
        </p:nvSpPr>
        <p:spPr>
          <a:xfrm>
            <a:off x="1097280" y="55595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崩了會碰到什麼　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道路、聚落、土石流潛勢溪流</a:t>
            </a:r>
            <a:endParaRPr lang="en-US" sz="1400" dirty="0"/>
          </a:p>
        </p:txBody>
      </p:sp>
      <p:sp>
        <p:nvSpPr>
          <p:cNvPr id="33" name="prin0"/>
          <p:cNvSpPr/>
          <p:nvPr/>
        </p:nvSpPr>
        <p:spPr>
          <a:xfrm>
            <a:off x="6035040" y="2834640"/>
            <a:ext cx="55778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prinT0"/>
          <p:cNvSpPr txBox="1"/>
          <p:nvPr/>
        </p:nvSpPr>
        <p:spPr>
          <a:xfrm>
            <a:off x="6263640" y="2880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不給總分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分數會掩蓋「為什麼」；各類證據並列，由判讀者權衡。</a:t>
            </a:r>
            <a:endParaRPr lang="en-US" sz="1600" dirty="0"/>
          </a:p>
        </p:txBody>
      </p:sp>
      <p:sp>
        <p:nvSpPr>
          <p:cNvPr id="35" name="prin1"/>
          <p:cNvSpPr/>
          <p:nvPr/>
        </p:nvSpPr>
        <p:spPr>
          <a:xfrm>
            <a:off x="6035040" y="3977640"/>
            <a:ext cx="55778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rinT1"/>
          <p:cNvSpPr txBox="1"/>
          <p:nvPr/>
        </p:nvSpPr>
        <p:spPr>
          <a:xfrm>
            <a:off x="6263640" y="4023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「資料不足」也是結果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雲、陰影、面積太小時明說看不到，不把沒資料當沒問題。</a:t>
            </a:r>
            <a:endParaRPr lang="en-US" sz="1600" dirty="0"/>
          </a:p>
        </p:txBody>
      </p:sp>
      <p:sp>
        <p:nvSpPr>
          <p:cNvPr id="37" name="prin2"/>
          <p:cNvSpPr/>
          <p:nvPr/>
        </p:nvSpPr>
        <p:spPr>
          <a:xfrm>
            <a:off x="6035040" y="5120640"/>
            <a:ext cx="55778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prinT2"/>
          <p:cNvSpPr txBox="1"/>
          <p:nvPr/>
        </p:nvSpPr>
        <p:spPr>
          <a:xfrm>
            <a:off x="6263640" y="5166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可稽核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盲判題目與結果附 SHA-256 清單；高解析影像只決定「怎麼看」，不改衛星數值。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韌性呈現：每個坡面一份履歷——壞過、在變、會碰到誰</a:t>
            </a:r>
            <a:endParaRPr lang="en-US" sz="3200" dirty="0"/>
          </a:p>
        </p:txBody>
      </p:sp>
      <p:pic>
        <p:nvPicPr>
          <p:cNvPr id="3" name="tarokoGif" descr="taroko_s2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343400" cy="4343400"/>
          </a:xfrm>
          <a:prstGeom prst="rect">
            <a:avLst/>
          </a:prstGeom>
        </p:spPr>
      </p:pic>
      <p:sp>
        <p:nvSpPr>
          <p:cNvPr id="4" name="gifCap"/>
          <p:cNvSpPr txBox="1"/>
          <p:nvPr/>
        </p:nvSpPr>
        <p:spPr>
          <a:xfrm>
            <a:off x="548640" y="5715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太魯閣 0403 地震：白線＝坡面；橘線＝事件目錄的地震崩塌（官方判釋）</a:t>
            </a:r>
            <a:endParaRPr lang="en-US" sz="1200" dirty="0"/>
          </a:p>
        </p:txBody>
      </p:sp>
      <p:graphicFrame>
        <p:nvGraphicFramePr>
          <p:cNvPr id="5" name="ndreChart" descr=""/>
          <p:cNvGraphicFramePr/>
          <p:nvPr/>
        </p:nvGraphicFramePr>
        <p:xfrm>
          <a:off x="5257800" y="1234440"/>
          <a:ext cx="6355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sN0"/>
          <p:cNvSpPr txBox="1"/>
          <p:nvPr/>
        </p:nvSpPr>
        <p:spPr>
          <a:xfrm>
            <a:off x="525780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229／330</a:t>
            </a:r>
            <a:endParaRPr lang="en-US" sz="2400" dirty="0"/>
          </a:p>
        </p:txBody>
      </p:sp>
      <p:sp>
        <p:nvSpPr>
          <p:cNvPr id="7" name="resD0"/>
          <p:cNvSpPr txBox="1"/>
          <p:nvPr/>
        </p:nvSpPr>
        <p:spPr>
          <a:xfrm>
            <a:off x="7040880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太魯閣紅邊持續下降的坡面出現在地震當月——事件後幾週內列出先看的坡面</a:t>
            </a:r>
            <a:endParaRPr lang="en-US" sz="1300" dirty="0"/>
          </a:p>
        </p:txBody>
      </p:sp>
      <p:sp>
        <p:nvSpPr>
          <p:cNvPr id="8" name="resN1"/>
          <p:cNvSpPr txBox="1"/>
          <p:nvPr/>
        </p:nvSpPr>
        <p:spPr>
          <a:xfrm>
            <a:off x="5257800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200／411</a:t>
            </a:r>
            <a:endParaRPr lang="en-US" sz="2400" dirty="0"/>
          </a:p>
        </p:txBody>
      </p:sp>
      <p:sp>
        <p:nvSpPr>
          <p:cNvPr id="9" name="resD1"/>
          <p:cNvSpPr txBox="1"/>
          <p:nvPr/>
        </p:nvSpPr>
        <p:spPr>
          <a:xfrm>
            <a:off x="7040880" y="4709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高雄優先坡面外推 100 m 內有道路；25 個有建物（OpenStreetMap）</a:t>
            </a:r>
            <a:endParaRPr lang="en-US" sz="1300" dirty="0"/>
          </a:p>
        </p:txBody>
      </p:sp>
      <p:sp>
        <p:nvSpPr>
          <p:cNvPr id="10" name="resN2"/>
          <p:cNvSpPr txBox="1"/>
          <p:nvPr/>
        </p:nvSpPr>
        <p:spPr>
          <a:xfrm>
            <a:off x="525780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67</a:t>
            </a:r>
            <a:endParaRPr lang="en-US" sz="2400" dirty="0"/>
          </a:p>
        </p:txBody>
      </p:sp>
      <p:sp>
        <p:nvSpPr>
          <p:cNvPr id="11" name="resD2"/>
          <p:cNvSpPr txBox="1"/>
          <p:nvPr/>
        </p:nvSpPr>
        <p:spPr>
          <a:xfrm>
            <a:off x="70408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個優先坡面位在土石流潛勢溪流集水區內，崩落土砂可能進入溪流（水保署）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對公部門的啟示：自動訊號只排「先看誰」，先量再用</a:t>
            </a:r>
            <a:endParaRPr lang="en-US" sz="3200" dirty="0"/>
          </a:p>
        </p:txBody>
      </p:sp>
      <p:sp>
        <p:nvSpPr>
          <p:cNvPr id="3" name="gv0"/>
          <p:cNvSpPr/>
          <p:nvPr/>
        </p:nvSpPr>
        <p:spPr>
          <a:xfrm>
            <a:off x="548640" y="1280160"/>
            <a:ext cx="44805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vN0"/>
          <p:cNvSpPr txBox="1"/>
          <p:nvPr/>
        </p:nvSpPr>
        <p:spPr>
          <a:xfrm>
            <a:off x="77724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75%・43%</a:t>
            </a:r>
            <a:endParaRPr lang="en-US" sz="2800" dirty="0"/>
          </a:p>
        </p:txBody>
      </p:sp>
      <p:sp>
        <p:nvSpPr>
          <p:cNvPr id="5" name="gvL0"/>
          <p:cNvSpPr txBox="1"/>
          <p:nvPr/>
        </p:nvSpPr>
        <p:spPr>
          <a:xfrm>
            <a:off x="77724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大事件後抓到崩塌坡面（花蓮・太魯閣）</a:t>
            </a:r>
            <a:endParaRPr lang="en-US" sz="1400" dirty="0"/>
          </a:p>
        </p:txBody>
      </p:sp>
      <p:sp>
        <p:nvSpPr>
          <p:cNvPr id="6" name="gvC0"/>
          <p:cNvSpPr txBox="1"/>
          <p:nvPr/>
        </p:nvSpPr>
        <p:spPr>
          <a:xfrm>
            <a:off x="777240" y="2304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95% CI 66–83%・38–48%；誤報約 2%</a:t>
            </a:r>
            <a:endParaRPr lang="en-US" sz="1100" dirty="0"/>
          </a:p>
        </p:txBody>
      </p:sp>
      <p:sp>
        <p:nvSpPr>
          <p:cNvPr id="7" name="gv1"/>
          <p:cNvSpPr/>
          <p:nvPr/>
        </p:nvSpPr>
        <p:spPr>
          <a:xfrm>
            <a:off x="548640" y="2880360"/>
            <a:ext cx="44805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gvN1"/>
          <p:cNvSpPr txBox="1"/>
          <p:nvPr/>
        </p:nvSpPr>
        <p:spPr>
          <a:xfrm>
            <a:off x="777240" y="2971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約 25%</a:t>
            </a:r>
            <a:endParaRPr lang="en-US" sz="2800" dirty="0"/>
          </a:p>
        </p:txBody>
      </p:sp>
      <p:sp>
        <p:nvSpPr>
          <p:cNvPr id="9" name="gvL1"/>
          <p:cNvSpPr txBox="1"/>
          <p:nvPr/>
        </p:nvSpPr>
        <p:spPr>
          <a:xfrm>
            <a:off x="777240" y="3538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平時零星的紅邊下降經盲判屬實</a:t>
            </a:r>
            <a:endParaRPr lang="en-US" sz="1400" dirty="0"/>
          </a:p>
        </p:txBody>
      </p:sp>
      <p:sp>
        <p:nvSpPr>
          <p:cNvPr id="10" name="gvC1"/>
          <p:cNvSpPr txBox="1"/>
          <p:nvPr/>
        </p:nvSpPr>
        <p:spPr>
          <a:xfrm>
            <a:off x="777240" y="3904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分層加權，95% CI 5–45%</a:t>
            </a:r>
            <a:endParaRPr lang="en-US" sz="1100" dirty="0"/>
          </a:p>
        </p:txBody>
      </p:sp>
      <p:sp>
        <p:nvSpPr>
          <p:cNvPr id="11" name="gv2"/>
          <p:cNvSpPr/>
          <p:nvPr/>
        </p:nvSpPr>
        <p:spPr>
          <a:xfrm>
            <a:off x="548640" y="4480560"/>
            <a:ext cx="44805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gvN2"/>
          <p:cNvSpPr txBox="1"/>
          <p:nvPr/>
        </p:nvSpPr>
        <p:spPr>
          <a:xfrm>
            <a:off x="777240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69%</a:t>
            </a:r>
            <a:endParaRPr lang="en-US" sz="2800" dirty="0"/>
          </a:p>
        </p:txBody>
      </p:sp>
      <p:sp>
        <p:nvSpPr>
          <p:cNvPr id="13" name="gvL2"/>
          <p:cNvSpPr txBox="1"/>
          <p:nvPr/>
        </p:nvSpPr>
        <p:spPr>
          <a:xfrm>
            <a:off x="777240" y="5138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影像目視與官方圖層「有無裸露」一致</a:t>
            </a:r>
            <a:endParaRPr lang="en-US" sz="1400" dirty="0"/>
          </a:p>
        </p:txBody>
      </p:sp>
      <p:sp>
        <p:nvSpPr>
          <p:cNvPr id="14" name="gvC2"/>
          <p:cNvSpPr txBox="1"/>
          <p:nvPr/>
        </p:nvSpPr>
        <p:spPr>
          <a:xfrm>
            <a:off x="777240" y="5504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人工盲測 n=29，95% CI 51–83%</a:t>
            </a:r>
            <a:endParaRPr lang="en-US" sz="1100" dirty="0"/>
          </a:p>
        </p:txBody>
      </p:sp>
      <p:sp>
        <p:nvSpPr>
          <p:cNvPr id="15" name="gpC0"/>
          <p:cNvSpPr/>
          <p:nvPr/>
        </p:nvSpPr>
        <p:spPr>
          <a:xfrm>
            <a:off x="5440680" y="1417320"/>
            <a:ext cx="777240" cy="777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gp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600200"/>
            <a:ext cx="411480" cy="411480"/>
          </a:xfrm>
          <a:prstGeom prst="rect">
            <a:avLst/>
          </a:prstGeom>
        </p:spPr>
      </p:pic>
      <p:sp>
        <p:nvSpPr>
          <p:cNvPr id="17" name="gpT0"/>
          <p:cNvSpPr txBox="1"/>
          <p:nvPr/>
        </p:nvSpPr>
        <p:spPr>
          <a:xfrm>
            <a:off x="6400800" y="13258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量過才用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大事件後可靠、平時零星變化不可靠；系統把這些限制直接寫在每個坡面頁上，只用來排序，不用來判定。</a:t>
            </a:r>
            <a:endParaRPr lang="en-US" sz="1800" dirty="0"/>
          </a:p>
        </p:txBody>
      </p:sp>
      <p:sp>
        <p:nvSpPr>
          <p:cNvPr id="18" name="gpC1"/>
          <p:cNvSpPr/>
          <p:nvPr/>
        </p:nvSpPr>
        <p:spPr>
          <a:xfrm>
            <a:off x="5440680" y="3017520"/>
            <a:ext cx="777240" cy="777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gp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200400"/>
            <a:ext cx="411480" cy="411480"/>
          </a:xfrm>
          <a:prstGeom prst="rect">
            <a:avLst/>
          </a:prstGeom>
        </p:spPr>
      </p:pic>
      <p:sp>
        <p:nvSpPr>
          <p:cNvPr id="20" name="gpT1"/>
          <p:cNvSpPr txBox="1"/>
          <p:nvPr/>
        </p:nvSpPr>
        <p:spPr>
          <a:xfrm>
            <a:off x="6400800" y="29260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可複製、成本低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全部開放資料與開源程式；換一個流域只要換範圍重跑，Sentinel-2 免費，一個 POC 約 1–2 小時計算。</a:t>
            </a:r>
            <a:endParaRPr lang="en-US" sz="1800" dirty="0"/>
          </a:p>
        </p:txBody>
      </p:sp>
      <p:sp>
        <p:nvSpPr>
          <p:cNvPr id="21" name="gpC2"/>
          <p:cNvSpPr/>
          <p:nvPr/>
        </p:nvSpPr>
        <p:spPr>
          <a:xfrm>
            <a:off x="5440680" y="4617720"/>
            <a:ext cx="777240" cy="777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gp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800600"/>
            <a:ext cx="411480" cy="411480"/>
          </a:xfrm>
          <a:prstGeom prst="rect">
            <a:avLst/>
          </a:prstGeom>
        </p:spPr>
      </p:pic>
      <p:sp>
        <p:nvSpPr>
          <p:cNvPr id="23" name="gpT2"/>
          <p:cNvSpPr txBox="1"/>
          <p:nvPr/>
        </p:nvSpPr>
        <p:spPr>
          <a:xfrm>
            <a:off x="6400800" y="45262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資料治理的小改變，大效益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UAV 照片上傳時保留拍攝座標與時間（EXIF）、事件目錄附判釋日期，就能省下大量事後對位與比對。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對全民的啟示：看得懂、查得到、一起補</a:t>
            </a:r>
            <a:endParaRPr lang="en-US" sz="3200" dirty="0"/>
          </a:p>
        </p:txBody>
      </p:sp>
      <p:pic>
        <p:nvPicPr>
          <p:cNvPr id="3" name="su3d" descr="su3d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5120640" cy="4224528"/>
          </a:xfrm>
          <a:prstGeom prst="rect">
            <a:avLst/>
          </a:prstGeom>
        </p:spPr>
      </p:pic>
      <p:sp>
        <p:nvSpPr>
          <p:cNvPr id="4" name="su3dCap"/>
          <p:cNvSpPr txBox="1"/>
          <p:nvPr/>
        </p:nvSpPr>
        <p:spPr>
          <a:xfrm>
            <a:off x="548640" y="5486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坡面頁 3D 檢視：國土測繪中心航照貼在 20 m 地形上；黃線＝選取的坡面</a:t>
            </a:r>
            <a:endParaRPr lang="en-US" sz="1100" dirty="0"/>
          </a:p>
        </p:txBody>
      </p:sp>
      <p:sp>
        <p:nvSpPr>
          <p:cNvPr id="5" name="pbC0"/>
          <p:cNvSpPr/>
          <p:nvPr/>
        </p:nvSpPr>
        <p:spPr>
          <a:xfrm>
            <a:off x="6035040" y="13258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pb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90472"/>
            <a:ext cx="402336" cy="402336"/>
          </a:xfrm>
          <a:prstGeom prst="rect">
            <a:avLst/>
          </a:prstGeom>
        </p:spPr>
      </p:pic>
      <p:sp>
        <p:nvSpPr>
          <p:cNvPr id="7" name="pbT0"/>
          <p:cNvSpPr txBox="1"/>
          <p:nvPr/>
        </p:nvSpPr>
        <p:spPr>
          <a:xfrm>
            <a:off x="6949440" y="12344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透明，也誠實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不給「風險分數」，避免把不確定的訊號說成定論；看不到就說看不到，每個數字附誤差。</a:t>
            </a:r>
            <a:endParaRPr lang="en-US" sz="1800" dirty="0"/>
          </a:p>
        </p:txBody>
      </p:sp>
      <p:sp>
        <p:nvSpPr>
          <p:cNvPr id="8" name="pbC1"/>
          <p:cNvSpPr/>
          <p:nvPr/>
        </p:nvSpPr>
        <p:spPr>
          <a:xfrm>
            <a:off x="6035040" y="26974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pb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862072"/>
            <a:ext cx="402336" cy="402336"/>
          </a:xfrm>
          <a:prstGeom prst="rect">
            <a:avLst/>
          </a:prstGeom>
        </p:spPr>
      </p:pic>
      <p:sp>
        <p:nvSpPr>
          <p:cNvPr id="10" name="pbT1"/>
          <p:cNvSpPr txBox="1"/>
          <p:nvPr/>
        </p:nvSpPr>
        <p:spPr>
          <a:xfrm>
            <a:off x="6949440" y="26060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查得到身邊的坡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每個坡面頁列出附近道路、建物、聚落與土石流潛勢溪流，可切 3D 與逐年航照。</a:t>
            </a:r>
            <a:endParaRPr lang="en-US" sz="1800" dirty="0"/>
          </a:p>
        </p:txBody>
      </p:sp>
      <p:sp>
        <p:nvSpPr>
          <p:cNvPr id="11" name="pbC2"/>
          <p:cNvSpPr/>
          <p:nvPr/>
        </p:nvSpPr>
        <p:spPr>
          <a:xfrm>
            <a:off x="6035040" y="4069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pb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4233672"/>
            <a:ext cx="402336" cy="402336"/>
          </a:xfrm>
          <a:prstGeom prst="rect">
            <a:avLst/>
          </a:prstGeom>
        </p:spPr>
      </p:pic>
      <p:sp>
        <p:nvSpPr>
          <p:cNvPr id="13" name="pbT2"/>
          <p:cNvSpPr txBox="1"/>
          <p:nvPr/>
        </p:nvSpPr>
        <p:spPr>
          <a:xfrm>
            <a:off x="6949440" y="39776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一起補資料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山區建物與產業道路在 OpenStreetMap 常缺漏，志工補上的每一筆都讓「會碰到誰」更完整；程式全部開源。</a:t>
            </a:r>
            <a:endParaRPr lang="en-US" sz="1800" dirty="0"/>
          </a:p>
        </p:txBody>
      </p:sp>
      <p:sp>
        <p:nvSpPr>
          <p:cNvPr id="14" name="closing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losingT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機器幫忙決定先看誰・證據鏈告訴你為什麼・最後由人決定要不要去　</a:t>
            </a:r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rhynowu-ardswc-resilience-observatory.hf.space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備用｜驗證細節：訊號只能「請人看」</a:t>
            </a:r>
            <a:endParaRPr lang="en-US" sz="3200" dirty="0"/>
          </a:p>
        </p:txBody>
      </p:sp>
      <p:graphicFrame>
        <p:nvGraphicFramePr>
          <p:cNvPr id="3" name="detChart" descr=""/>
          <p:cNvGraphicFramePr/>
          <p:nvPr/>
        </p:nvGraphicFramePr>
        <p:xfrm>
          <a:off x="548640" y="1280160"/>
          <a:ext cx="4069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Cap"/>
          <p:cNvSpPr txBox="1"/>
          <p:nvPr/>
        </p:nvSpPr>
        <p:spPr>
          <a:xfrm>
            <a:off x="548640" y="53949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橫軸：事件目錄崩塌占坡面有效面積；縱軸：NDRE 持續下降被抓到的比例（太魯閣 5,469 個坡面）</a:t>
            </a:r>
            <a:endParaRPr lang="en-US" sz="1100" dirty="0"/>
          </a:p>
        </p:txBody>
      </p:sp>
      <p:sp>
        <p:nvSpPr>
          <p:cNvPr id="5" name="val0"/>
          <p:cNvSpPr/>
          <p:nvPr/>
        </p:nvSpPr>
        <p:spPr>
          <a:xfrm>
            <a:off x="4846320" y="13258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alN0"/>
          <p:cNvSpPr txBox="1"/>
          <p:nvPr/>
        </p:nvSpPr>
        <p:spPr>
          <a:xfrm>
            <a:off x="5029200" y="14356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69%</a:t>
            </a:r>
            <a:endParaRPr lang="en-US" sz="2800" dirty="0"/>
          </a:p>
        </p:txBody>
      </p:sp>
      <p:sp>
        <p:nvSpPr>
          <p:cNvPr id="7" name="valL0"/>
          <p:cNvSpPr txBox="1"/>
          <p:nvPr/>
        </p:nvSpPr>
        <p:spPr>
          <a:xfrm>
            <a:off x="502920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目視與官方圖層「有無裸露」一致</a:t>
            </a:r>
            <a:endParaRPr lang="en-US" sz="1400" dirty="0"/>
          </a:p>
        </p:txBody>
      </p:sp>
      <p:sp>
        <p:nvSpPr>
          <p:cNvPr id="8" name="valS0"/>
          <p:cNvSpPr txBox="1"/>
          <p:nvPr/>
        </p:nvSpPr>
        <p:spPr>
          <a:xfrm>
            <a:off x="50292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人工盲測 n=29；95% CI 51–83%</a:t>
            </a:r>
            <a:endParaRPr lang="en-US" sz="1100" dirty="0"/>
          </a:p>
        </p:txBody>
      </p:sp>
      <p:sp>
        <p:nvSpPr>
          <p:cNvPr id="9" name="val1"/>
          <p:cNvSpPr/>
          <p:nvPr/>
        </p:nvSpPr>
        <p:spPr>
          <a:xfrm>
            <a:off x="8321040" y="13258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valN1"/>
          <p:cNvSpPr txBox="1"/>
          <p:nvPr/>
        </p:nvSpPr>
        <p:spPr>
          <a:xfrm>
            <a:off x="8503920" y="14356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約 1/4</a:t>
            </a:r>
            <a:endParaRPr lang="en-US" sz="2800" dirty="0"/>
          </a:p>
        </p:txBody>
      </p:sp>
      <p:sp>
        <p:nvSpPr>
          <p:cNvPr id="11" name="valL1"/>
          <p:cNvSpPr txBox="1"/>
          <p:nvPr/>
        </p:nvSpPr>
        <p:spPr>
          <a:xfrm>
            <a:off x="850392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舊版「近期有變化」訊號屬實</a:t>
            </a:r>
            <a:endParaRPr lang="en-US" sz="1400" dirty="0"/>
          </a:p>
        </p:txBody>
      </p:sp>
      <p:sp>
        <p:nvSpPr>
          <p:cNvPr id="12" name="valS1"/>
          <p:cNvSpPr txBox="1"/>
          <p:nvPr/>
        </p:nvSpPr>
        <p:spPr>
          <a:xfrm>
            <a:off x="85039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分層驗證 S1 層 n=4；95% CI 5–70%</a:t>
            </a:r>
            <a:endParaRPr lang="en-US" sz="1100" dirty="0"/>
          </a:p>
        </p:txBody>
      </p:sp>
      <p:sp>
        <p:nvSpPr>
          <p:cNvPr id="13" name="val2"/>
          <p:cNvSpPr/>
          <p:nvPr/>
        </p:nvSpPr>
        <p:spPr>
          <a:xfrm>
            <a:off x="4846320" y="31546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valN2"/>
          <p:cNvSpPr txBox="1"/>
          <p:nvPr/>
        </p:nvSpPr>
        <p:spPr>
          <a:xfrm>
            <a:off x="5029200" y="32644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約 25%</a:t>
            </a:r>
            <a:endParaRPr lang="en-US" sz="2800" dirty="0"/>
          </a:p>
        </p:txBody>
      </p:sp>
      <p:sp>
        <p:nvSpPr>
          <p:cNvPr id="15" name="valL2"/>
          <p:cNvSpPr txBox="1"/>
          <p:nvPr/>
        </p:nvSpPr>
        <p:spPr>
          <a:xfrm>
            <a:off x="50292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高雄全區紅邊下降經盲判屬實</a:t>
            </a:r>
            <a:endParaRPr lang="en-US" sz="1400" dirty="0"/>
          </a:p>
        </p:txBody>
      </p:sp>
      <p:sp>
        <p:nvSpPr>
          <p:cNvPr id="16" name="valS2"/>
          <p:cNvSpPr txBox="1"/>
          <p:nvPr/>
        </p:nvSpPr>
        <p:spPr>
          <a:xfrm>
            <a:off x="502920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分層加權（5/26）；95% CI 5–45%</a:t>
            </a:r>
            <a:endParaRPr lang="en-US" sz="1100" dirty="0"/>
          </a:p>
        </p:txBody>
      </p:sp>
      <p:sp>
        <p:nvSpPr>
          <p:cNvPr id="17" name="val3"/>
          <p:cNvSpPr/>
          <p:nvPr/>
        </p:nvSpPr>
        <p:spPr>
          <a:xfrm>
            <a:off x="8321040" y="31546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valN3"/>
          <p:cNvSpPr txBox="1"/>
          <p:nvPr/>
        </p:nvSpPr>
        <p:spPr>
          <a:xfrm>
            <a:off x="8503920" y="32644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75%・43%</a:t>
            </a:r>
            <a:endParaRPr lang="en-US" sz="2800" dirty="0"/>
          </a:p>
        </p:txBody>
      </p:sp>
      <p:sp>
        <p:nvSpPr>
          <p:cNvPr id="19" name="valL3"/>
          <p:cNvSpPr txBox="1"/>
          <p:nvPr/>
        </p:nvSpPr>
        <p:spPr>
          <a:xfrm>
            <a:off x="850392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大事件後崩塌坡面被抓到（花蓮・太魯閣），誤報約 2%</a:t>
            </a:r>
            <a:endParaRPr lang="en-US" sz="1400" dirty="0"/>
          </a:p>
        </p:txBody>
      </p:sp>
      <p:sp>
        <p:nvSpPr>
          <p:cNvPr id="20" name="valS3"/>
          <p:cNvSpPr txBox="1"/>
          <p:nvPr/>
        </p:nvSpPr>
        <p:spPr>
          <a:xfrm>
            <a:off x="850392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95% CI 66–83%・38–48%；誤報 1.9%・2.0%</a:t>
            </a:r>
            <a:endParaRPr lang="en-US" sz="1100" dirty="0"/>
          </a:p>
        </p:txBody>
      </p:sp>
      <p:sp>
        <p:nvSpPr>
          <p:cNvPr id="21" name="concl"/>
          <p:cNvSpPr/>
          <p:nvPr/>
        </p:nvSpPr>
        <p:spPr>
          <a:xfrm>
            <a:off x="4846320" y="5029200"/>
            <a:ext cx="67665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onclT"/>
          <p:cNvSpPr txBox="1"/>
          <p:nvPr/>
        </p:nvSpPr>
        <p:spPr>
          <a:xfrm>
            <a:off x="5074920" y="5074920"/>
            <a:ext cx="6355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所以：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紅邊指標適合大事件後找出植被大片消失的坡面，平時零星變化不可靠；自動訊號只排「先看誰」，最後由人確認。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備用｜對照崩塌智慧防災構想：現在在哪、下一步</a:t>
            </a:r>
            <a:endParaRPr lang="en-US" sz="3200" dirty="0"/>
          </a:p>
        </p:txBody>
      </p:sp>
      <p:sp>
        <p:nvSpPr>
          <p:cNvPr id="3" name="mod0"/>
          <p:cNvSpPr/>
          <p:nvPr/>
        </p:nvSpPr>
        <p:spPr>
          <a:xfrm>
            <a:off x="548640" y="123444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H0"/>
          <p:cNvSpPr txBox="1"/>
          <p:nvPr/>
        </p:nvSpPr>
        <p:spPr>
          <a:xfrm>
            <a:off x="731520" y="1344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一、坡地風險底圖</a:t>
            </a:r>
            <a:endParaRPr lang="en-US" sz="1600" dirty="0"/>
          </a:p>
        </p:txBody>
      </p:sp>
      <p:sp>
        <p:nvSpPr>
          <p:cNvPr id="5" name="modP0"/>
          <p:cNvSpPr/>
          <p:nvPr/>
        </p:nvSpPr>
        <p:spPr>
          <a:xfrm>
            <a:off x="3246120" y="138988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odPT0"/>
          <p:cNvSpPr txBox="1"/>
          <p:nvPr/>
        </p:nvSpPr>
        <p:spPr>
          <a:xfrm>
            <a:off x="3246120" y="1389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部分</a:t>
            </a:r>
            <a:endParaRPr lang="en-US" sz="1200" dirty="0"/>
          </a:p>
        </p:txBody>
      </p:sp>
      <p:sp>
        <p:nvSpPr>
          <p:cNvPr id="7" name="modT0"/>
          <p:cNvSpPr txBox="1"/>
          <p:nvPr/>
        </p:nvSpPr>
        <p:spPr>
          <a:xfrm>
            <a:off x="73152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已有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20 m DEM、≥15° 有效坡面、事件目錄、四年崩塌圖層；新增 OSM 道路與建物暴露（坡面外推 100 m）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缺口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五萬分之一斷層、位態、順向坡尚缺向量（小比例尺地層見下頁）</a:t>
            </a:r>
            <a:endParaRPr lang="en-US" sz="1400" dirty="0"/>
          </a:p>
        </p:txBody>
      </p:sp>
      <p:sp>
        <p:nvSpPr>
          <p:cNvPr id="8" name="mod1"/>
          <p:cNvSpPr/>
          <p:nvPr/>
        </p:nvSpPr>
        <p:spPr>
          <a:xfrm>
            <a:off x="4297680" y="123444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dH1"/>
          <p:cNvSpPr txBox="1"/>
          <p:nvPr/>
        </p:nvSpPr>
        <p:spPr>
          <a:xfrm>
            <a:off x="4480560" y="1344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二、降雨觸發與前期含水</a:t>
            </a:r>
            <a:endParaRPr lang="en-US" sz="1600" dirty="0"/>
          </a:p>
        </p:txBody>
      </p:sp>
      <p:sp>
        <p:nvSpPr>
          <p:cNvPr id="10" name="modP1"/>
          <p:cNvSpPr/>
          <p:nvPr/>
        </p:nvSpPr>
        <p:spPr>
          <a:xfrm>
            <a:off x="6995160" y="138988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modPT1"/>
          <p:cNvSpPr txBox="1"/>
          <p:nvPr/>
        </p:nvSpPr>
        <p:spPr>
          <a:xfrm>
            <a:off x="6995160" y="1389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未做</a:t>
            </a:r>
            <a:endParaRPr lang="en-US" sz="1200" dirty="0"/>
          </a:p>
        </p:txBody>
      </p:sp>
      <p:sp>
        <p:nvSpPr>
          <p:cNvPr id="12" name="modT1"/>
          <p:cNvSpPr txBox="1"/>
          <p:nvPr/>
        </p:nvSpPr>
        <p:spPr>
          <a:xfrm>
            <a:off x="448056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已有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缺口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雨量 I-D 曲線、前期累積雨量、土壤含水</a:t>
            </a:r>
            <a:endParaRPr lang="en-US" sz="1400" dirty="0"/>
          </a:p>
        </p:txBody>
      </p:sp>
      <p:sp>
        <p:nvSpPr>
          <p:cNvPr id="13" name="mod2"/>
          <p:cNvSpPr/>
          <p:nvPr/>
        </p:nvSpPr>
        <p:spPr>
          <a:xfrm>
            <a:off x="8046720" y="123444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H2"/>
          <p:cNvSpPr txBox="1"/>
          <p:nvPr/>
        </p:nvSpPr>
        <p:spPr>
          <a:xfrm>
            <a:off x="8229600" y="1344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三、多源監測與異常偵測</a:t>
            </a:r>
            <a:endParaRPr lang="en-US" sz="1600" dirty="0"/>
          </a:p>
        </p:txBody>
      </p:sp>
      <p:sp>
        <p:nvSpPr>
          <p:cNvPr id="15" name="modP2"/>
          <p:cNvSpPr/>
          <p:nvPr/>
        </p:nvSpPr>
        <p:spPr>
          <a:xfrm>
            <a:off x="10744200" y="138988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odPT2"/>
          <p:cNvSpPr txBox="1"/>
          <p:nvPr/>
        </p:nvSpPr>
        <p:spPr>
          <a:xfrm>
            <a:off x="10744200" y="1389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部分</a:t>
            </a:r>
            <a:endParaRPr lang="en-US" sz="1200" dirty="0"/>
          </a:p>
        </p:txBody>
      </p:sp>
      <p:sp>
        <p:nvSpPr>
          <p:cNvPr id="17" name="modT2"/>
          <p:cNvSpPr txBox="1"/>
          <p:nvPr/>
        </p:nvSpPr>
        <p:spPr>
          <a:xfrm>
            <a:off x="822960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已有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Sentinel-2 紅邊時間序列、Sentinel-1、現地照片、Wayback 人工查證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缺口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InSAR、微地動、水位；UAV 依輔導建議暫停</a:t>
            </a:r>
            <a:endParaRPr lang="en-US" sz="1400" dirty="0"/>
          </a:p>
        </p:txBody>
      </p:sp>
      <p:sp>
        <p:nvSpPr>
          <p:cNvPr id="18" name="mod3"/>
          <p:cNvSpPr/>
          <p:nvPr/>
        </p:nvSpPr>
        <p:spPr>
          <a:xfrm>
            <a:off x="548640" y="352044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H3"/>
          <p:cNvSpPr txBox="1"/>
          <p:nvPr/>
        </p:nvSpPr>
        <p:spPr>
          <a:xfrm>
            <a:off x="731520" y="3630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四、AI 輔助判釋</a:t>
            </a:r>
            <a:endParaRPr lang="en-US" sz="1600" dirty="0"/>
          </a:p>
        </p:txBody>
      </p:sp>
      <p:sp>
        <p:nvSpPr>
          <p:cNvPr id="20" name="modP3"/>
          <p:cNvSpPr/>
          <p:nvPr/>
        </p:nvSpPr>
        <p:spPr>
          <a:xfrm>
            <a:off x="3246120" y="367588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modPT3"/>
          <p:cNvSpPr txBox="1"/>
          <p:nvPr/>
        </p:nvSpPr>
        <p:spPr>
          <a:xfrm>
            <a:off x="324612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部分</a:t>
            </a:r>
            <a:endParaRPr lang="en-US" sz="1200" dirty="0"/>
          </a:p>
        </p:txBody>
      </p:sp>
      <p:sp>
        <p:nvSpPr>
          <p:cNvPr id="22" name="modT3"/>
          <p:cNvSpPr txBox="1"/>
          <p:nvPr/>
        </p:nvSpPr>
        <p:spPr>
          <a:xfrm>
            <a:off x="731520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已有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三級候選、坡面證據頁、每項訊號的準確度與 95% 信賴區間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缺口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自動產生研判摘要與待確認事項</a:t>
            </a:r>
            <a:endParaRPr lang="en-US" sz="1400" dirty="0"/>
          </a:p>
        </p:txBody>
      </p:sp>
      <p:sp>
        <p:nvSpPr>
          <p:cNvPr id="23" name="mod4"/>
          <p:cNvSpPr/>
          <p:nvPr/>
        </p:nvSpPr>
        <p:spPr>
          <a:xfrm>
            <a:off x="4297680" y="352044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H4"/>
          <p:cNvSpPr txBox="1"/>
          <p:nvPr/>
        </p:nvSpPr>
        <p:spPr>
          <a:xfrm>
            <a:off x="4480560" y="3630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五、下游影響與災害鏈</a:t>
            </a:r>
            <a:endParaRPr lang="en-US" sz="1600" dirty="0"/>
          </a:p>
        </p:txBody>
      </p:sp>
      <p:sp>
        <p:nvSpPr>
          <p:cNvPr id="25" name="modP4"/>
          <p:cNvSpPr/>
          <p:nvPr/>
        </p:nvSpPr>
        <p:spPr>
          <a:xfrm>
            <a:off x="6995160" y="367588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modPT4"/>
          <p:cNvSpPr txBox="1"/>
          <p:nvPr/>
        </p:nvSpPr>
        <p:spPr>
          <a:xfrm>
            <a:off x="699516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部分</a:t>
            </a:r>
            <a:endParaRPr lang="en-US" sz="1200" dirty="0"/>
          </a:p>
        </p:txBody>
      </p:sp>
      <p:sp>
        <p:nvSpPr>
          <p:cNvPr id="27" name="modT4"/>
          <p:cNvSpPr txBox="1"/>
          <p:nvPr/>
        </p:nvSpPr>
        <p:spPr>
          <a:xfrm>
            <a:off x="4480560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已有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坡面所在的土石流潛勢溪流集水區與影響範圍（水保署）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缺口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土砂量、河道、堰塞、下游的動態串接</a:t>
            </a:r>
            <a:endParaRPr lang="en-US" sz="1400" dirty="0"/>
          </a:p>
        </p:txBody>
      </p:sp>
      <p:sp>
        <p:nvSpPr>
          <p:cNvPr id="28" name="mod5"/>
          <p:cNvSpPr/>
          <p:nvPr/>
        </p:nvSpPr>
        <p:spPr>
          <a:xfrm>
            <a:off x="8046720" y="352044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odH5"/>
          <p:cNvSpPr txBox="1"/>
          <p:nvPr/>
        </p:nvSpPr>
        <p:spPr>
          <a:xfrm>
            <a:off x="8229600" y="3630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六、應變工作流</a:t>
            </a:r>
            <a:endParaRPr lang="en-US" sz="1600" dirty="0"/>
          </a:p>
        </p:txBody>
      </p:sp>
      <p:sp>
        <p:nvSpPr>
          <p:cNvPr id="30" name="modP5"/>
          <p:cNvSpPr/>
          <p:nvPr/>
        </p:nvSpPr>
        <p:spPr>
          <a:xfrm>
            <a:off x="10744200" y="367588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modPT5"/>
          <p:cNvSpPr txBox="1"/>
          <p:nvPr/>
        </p:nvSpPr>
        <p:spPr>
          <a:xfrm>
            <a:off x="1074420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部分</a:t>
            </a:r>
            <a:endParaRPr lang="en-US" sz="1200" dirty="0"/>
          </a:p>
        </p:txBody>
      </p:sp>
      <p:sp>
        <p:nvSpPr>
          <p:cNvPr id="32" name="modT5"/>
          <p:cNvSpPr txBox="1"/>
          <p:nvPr/>
        </p:nvSpPr>
        <p:spPr>
          <a:xfrm>
            <a:off x="8229600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已有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實務人員測試頁：判斷要不要現勘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缺口　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事件建立、任務派發、決策紀錄</a:t>
            </a:r>
            <a:endParaRPr lang="en-US" sz="1400" dirty="0"/>
          </a:p>
        </p:txBody>
      </p:sp>
      <p:sp>
        <p:nvSpPr>
          <p:cNvPr id="33" name="posBar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posBarT"/>
          <p:cNvSpPr txBox="1"/>
          <p:nvPr/>
        </p:nvSpPr>
        <p:spPr>
          <a:xfrm>
            <a:off x="77724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目前位置：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平時篩查（構想第一階段尾、第二階段開頭）　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下一步：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取得地質向量、串接降雨觸發與下游影響，走向事件反應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備用｜地質：哪些地層比較容易崩（粗尺度）</a:t>
            </a:r>
            <a:endParaRPr lang="en-US" sz="3200" dirty="0"/>
          </a:p>
        </p:txBody>
      </p:sp>
      <p:graphicFrame>
        <p:nvGraphicFramePr>
          <p:cNvPr id="11" name="geo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00200"/>
                <a:gridCol w="1234440"/>
                <a:gridCol w="1005840"/>
                <a:gridCol w="1097280"/>
                <a:gridCol w="9144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地層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有效坡面 km²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崩塌 ha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崩塌密度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頻率比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NDRE 下降坡面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三峽群及其相當地層（Ms）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中新世晚期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643.0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1,965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B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2.0%（95/4,858）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西村層，新高層（Eh）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始新世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541.6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4,403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1.7%（65/3,848）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廬山層（Ml）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中新世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408.5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2,357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5.8%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1.08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2.2%（64/2,905）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瑞芳群及其相當地層（Mj）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中新世中期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2.1%（9/431）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錦水頁岩及其相當地層（P1）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上新世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B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0.0%（0/425）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臺地堆積（Q4）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9.7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3.3%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3.9%（5/129）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頭嵙山層及其相當地層（PQc）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上新世－更新世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B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0.0%（0/37）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廬山層（v）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中新世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4.9%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0.0%（0/21）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沖積層（Q6）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5.9%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9.5%（4/42）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1,718.4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9,147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5.3%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1.9%（242/12,699）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4" name="geoN0"/>
          <p:cNvSpPr/>
          <p:nvPr/>
        </p:nvSpPr>
        <p:spPr>
          <a:xfrm>
            <a:off x="548640" y="502920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eoNT0"/>
          <p:cNvSpPr txBox="1"/>
          <p:nvPr/>
        </p:nvSpPr>
        <p:spPr>
          <a:xfrm>
            <a:off x="731520" y="507492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讀法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崩塌密度＝2021–2024 年度崩塌圖層聯集 ÷ ≥15° 有效坡面；頻率比 &gt;1 表示比全區平均容易崩。始新世西村層（板岩）1.53 最高，上新世錦水頁岩 0.32 最低。NDRE 下降比例在面積大的主要地層都約 2%，差異不大（小地層樣本太少）。</a:t>
            </a:r>
            <a:endParaRPr lang="en-US" sz="1200" dirty="0"/>
          </a:p>
        </p:txBody>
      </p:sp>
      <p:sp>
        <p:nvSpPr>
          <p:cNvPr id="6" name="geoN1"/>
          <p:cNvSpPr/>
          <p:nvPr/>
        </p:nvSpPr>
        <p:spPr>
          <a:xfrm>
            <a:off x="6172200" y="502920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geoNT1"/>
          <p:cNvSpPr txBox="1"/>
          <p:nvPr/>
        </p:nvSpPr>
        <p:spPr>
          <a:xfrm>
            <a:off x="6355080" y="507492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限制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公開的只有小比例尺地層面（POC 內一塊中位數約 160 ha），沒有斷層、位態、崩積區；這是描述性統計，不是敏感度模型。斷層距離與順向坡要五萬分之一向量。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opeSentinel">
  <a:themeElements>
    <a:clrScheme name="SlopeSentinel">
      <a:dk1>
        <a:srgbClr val="1E2B22"/>
      </a:dk1>
      <a:lt1>
        <a:srgbClr val="FFFFFF"/>
      </a:lt1>
      <a:dk2>
        <a:srgbClr val="2C5F2D"/>
      </a:dk2>
      <a:lt2>
        <a:srgbClr val="EEF3EC"/>
      </a:lt2>
      <a:accent1>
        <a:srgbClr val="2C5F2D"/>
      </a:accent1>
      <a:accent2>
        <a:srgbClr val="B85042"/>
      </a:accent2>
      <a:accent3>
        <a:srgbClr val="97BC62"/>
      </a:accent3>
      <a:accent4>
        <a:srgbClr val="5E6B63"/>
      </a:accent4>
      <a:accent5>
        <a:srgbClr val="D9A441"/>
      </a:accent5>
      <a:accent6>
        <a:srgbClr val="4A6FA5"/>
      </a:accent6>
      <a:hlink>
        <a:srgbClr val="2C5F2D"/>
      </a:hlink>
      <a:folHlink>
        <a:srgbClr val="5E6B63"/>
      </a:folHlink>
    </a:clrScheme>
    <a:fontScheme name="SlopeSentinel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地景複發熱點觀測站</dc:title>
  <dc:subject>PptxGenJS Presentation</dc:subject>
  <dc:creator>TASTI_SatDashboard</dc:creator>
  <cp:lastModifiedBy>TASTI_SatDashboard</cp:lastModifiedBy>
  <cp:revision>1</cp:revision>
  <dcterms:created xsi:type="dcterms:W3CDTF">2026-10-28T08:51:04Z</dcterms:created>
  <dcterms:modified xsi:type="dcterms:W3CDTF">2026-10-28T08:51:04Z</dcterms:modified>
</cp:coreProperties>
</file>