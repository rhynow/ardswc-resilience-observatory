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3b007b5c-3dc5-8d03-bf21-32d7d37d0834}">
          <p14:sldIdLst>
            <p14:sldId id="256"/>
          </p14:sldIdLst>
        </p14:section>
        <p14:section name="問題與方法" id="{6a8ca646-5483-ddc6-1ebd-e0ca97124c67}">
          <p14:sldIdLst>
            <p14:sldId id="257"/>
            <p14:sldId id="258"/>
          </p14:sldIdLst>
        </p14:section>
        <p14:section name="成果與驗證" id="{16ed2de3-4792-cccb-29ff-5dbb7088d0fc}">
          <p14:sldIdLst>
            <p14:sldId id="259"/>
            <p14:sldId id="260"/>
          </p14:sldIdLst>
        </p14:section>
        <p14:section name="落地" id="{65173dfe-13bf-67d3-8a1c-42b30702e95e}">
          <p14:sldIdLst>
            <p14:sldId id="261"/>
          </p14:sldIdLst>
        </p14:section>
        <p14:section name="備用" id="{a7aa1d1a-fa10-ee07-bebe-103f6fe6690a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B22"/>
                </a:solidFill>
                <a:latin typeface="+mn-lt"/>
              </a:rPr>
              <a:t>NDRE 逐月中位數（地震 2024/04）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此坡面</c:v>
                </c:pt>
              </c:strCache>
            </c:strRef>
          </c:tx>
          <c:spPr>
            <a:solidFill>
              <a:srgbClr val="B85042"/>
            </a:solidFill>
            <a:ln w="3175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0.342</c:v>
                </c:pt>
                <c:pt idx="1">
                  <c:v>0.54</c:v>
                </c:pt>
                <c:pt idx="2">
                  <c:v>0.549</c:v>
                </c:pt>
                <c:pt idx="3">
                  <c:v>0.622</c:v>
                </c:pt>
                <c:pt idx="4">
                  <c:v/>
                </c:pt>
                <c:pt idx="5">
                  <c:v>0.492</c:v>
                </c:pt>
                <c:pt idx="6">
                  <c:v/>
                </c:pt>
                <c:pt idx="7">
                  <c:v/>
                </c:pt>
                <c:pt idx="8">
                  <c:v>0.471</c:v>
                </c:pt>
                <c:pt idx="9">
                  <c:v>0.569</c:v>
                </c:pt>
                <c:pt idx="10">
                  <c:v>0.543</c:v>
                </c:pt>
                <c:pt idx="11">
                  <c:v>0.528</c:v>
                </c:pt>
                <c:pt idx="12">
                  <c:v>0.223</c:v>
                </c:pt>
                <c:pt idx="13">
                  <c:v>0.04</c:v>
                </c:pt>
                <c:pt idx="14">
                  <c:v>0.048</c:v>
                </c:pt>
                <c:pt idx="15">
                  <c:v>0.172</c:v>
                </c:pt>
                <c:pt idx="16">
                  <c:v>0.13</c:v>
                </c:pt>
                <c:pt idx="17">
                  <c:v/>
                </c:pt>
                <c:pt idx="18">
                  <c:v>0.148</c:v>
                </c:pt>
                <c:pt idx="19">
                  <c:v>0.063</c:v>
                </c:pt>
                <c:pt idx="20">
                  <c:v>0.204</c:v>
                </c:pt>
                <c:pt idx="21">
                  <c:v>0.138</c:v>
                </c:pt>
                <c:pt idx="22">
                  <c:v/>
                </c:pt>
                <c:pt idx="2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全區中位數</c:v>
                </c:pt>
              </c:strCache>
            </c:strRef>
          </c:tx>
          <c:spPr>
            <a:solidFill>
              <a:srgbClr val="5E6B63"/>
            </a:solidFill>
            <a:ln w="31750" cap="flat">
              <a:solidFill>
                <a:srgbClr val="5E6B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E6B63"/>
              </a:solidFill>
              <a:ln w="9525" cap="flat">
                <a:solidFill>
                  <a:srgbClr val="5E6B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0.559</c:v>
                </c:pt>
                <c:pt idx="1">
                  <c:v>0.537</c:v>
                </c:pt>
                <c:pt idx="2">
                  <c:v>0.592</c:v>
                </c:pt>
                <c:pt idx="3">
                  <c:v>0.61</c:v>
                </c:pt>
                <c:pt idx="4">
                  <c:v>0.628</c:v>
                </c:pt>
                <c:pt idx="5">
                  <c:v>0.643</c:v>
                </c:pt>
                <c:pt idx="6">
                  <c:v>0.566</c:v>
                </c:pt>
                <c:pt idx="7">
                  <c:v>0.603</c:v>
                </c:pt>
                <c:pt idx="8">
                  <c:v>0.58</c:v>
                </c:pt>
                <c:pt idx="9">
                  <c:v>0.629</c:v>
                </c:pt>
                <c:pt idx="10">
                  <c:v>0.563</c:v>
                </c:pt>
                <c:pt idx="11">
                  <c:v>0.58</c:v>
                </c:pt>
                <c:pt idx="12">
                  <c:v>0.53</c:v>
                </c:pt>
                <c:pt idx="13">
                  <c:v>0.379</c:v>
                </c:pt>
                <c:pt idx="14">
                  <c:v>0.565</c:v>
                </c:pt>
                <c:pt idx="15">
                  <c:v>0.609</c:v>
                </c:pt>
                <c:pt idx="16">
                  <c:v>0.625</c:v>
                </c:pt>
                <c:pt idx="17">
                  <c:v>0.613</c:v>
                </c:pt>
                <c:pt idx="18">
                  <c:v>0.59</c:v>
                </c:pt>
                <c:pt idx="19">
                  <c:v>0.597</c:v>
                </c:pt>
                <c:pt idx="20">
                  <c:v>0.615</c:v>
                </c:pt>
                <c:pt idx="21">
                  <c:v>0.624</c:v>
                </c:pt>
                <c:pt idx="22">
                  <c:v>0.592</c:v>
                </c:pt>
                <c:pt idx="23">
                  <c:v>0.518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DDE5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B22"/>
                </a:solidFill>
                <a:latin typeface="+mn-lt"/>
              </a:rPr>
              <a:t>太魯閣：崩塌占坡面越大，越抓得到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被抓到的比例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&lt;5%</c:v>
                  </c:pt>
                  <c:pt idx="1">
                    <c:v>5–10%</c:v>
                  </c:pt>
                  <c:pt idx="2">
                    <c:v>10–20%</c:v>
                  </c:pt>
                  <c:pt idx="3">
                    <c:v>20–40%</c:v>
                  </c:pt>
                  <c:pt idx="4">
                    <c:v>≥40%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15</c:v>
                </c:pt>
                <c:pt idx="2">
                  <c:v>42</c:v>
                </c:pt>
                <c:pt idx="3">
                  <c:v>75</c:v>
                </c:pt>
                <c:pt idx="4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我們是 TASTI_SatDashboard。這個系統不是要取代崩塌判釋，而是把水保署已經有的事件型崩塌目錄、歷史現地照片和近期衛星影像，整理成每個坡面的證據鏈。一句話：機器幫忙決定先看誰，證據鏈告訴你為什麼，最後由人決定要不要去。（約 20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巡查人力有限，但山區坡面上萬個。要判斷先去哪裡，證據散在三個地方：事件型崩塌目錄、現地歷史照片、近期衛星影像，各有盲點。以高雄 POC 為例，約 1,800 平方公里、1 萬 3 千個坡面、近 9 千張現地照片。（約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方法上，我們以坡面為單位。依輔導委員建議，用集水區重疊法切坡面，只保留坡度 15 度以上的有效坡面，每個單元都是完整區塊。每個坡面有四類證據：事件目錄是主骨架，照片是補充，衛星只回答最近還有沒有變化，再加上影像品質提醒。四類分開呈現、不相加、不給總分，最後只給三種候選層級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看一個太魯閣的例子。白線是一個坡面，橘線是官方事件目錄圈出的地震崩塌，占了這個坡面的一半。地震前 3 月底，紅邊指標 0.53；地震後 11 天掉到 0.20，之後一直沒有回來，而全區中位數只是正常的季節起伏。事件目錄、衛星變化兩類證據指向同一件事，這個坡面就會被列入人工判讀候選，最後由人決定要不要去。線上系統的太魯閣頁可以看到全部 329 個下降坡面。（約 45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我們不只做系統，也量了它準不準。影像目視與官方圖層的有無裸露一致率只有 69%；舊版近期變化訊號約四分之一屬實。我們參考水保署電子報改用紅邊指標。在高雄全區，零星的下降經分層盲判只有約 25% 屬實，信賴區間 5% 到 45%；但在大事件後，花蓮有 75%、太魯閣有 43% 的崩塌坡面被抓到，沒有事件的坡面誤報約 2%。左邊這張圖是太魯閣：崩塌占坡面不到 5% 時只抓到 7%，超過四成時抓到 93%。所以紅邊指標適合大事件後快速找出植被大片消失的坡面，自動訊號只用來排出先看誰，最後一定由人確認。（約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，這套流程全用開放資料與開源工具，程式公開，高雄完成完整流程，花蓮、太魯閣也加做了坡面紅邊檢核，另外兩區測試過衛星與事件比對。接下來請專家盲判與第一線同仁實際操作，依結果調整規則。我們不是重新發明崩塌判釋，而是把既有證據整理成可追蹤的坡面履歷：機器幫忙決定先看誰，證據鏈告訴你為什麼，最後由人決定要不要去。謝謝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（備用，評審問到系統藍圖或下一步時再翻。）專家提出的崩塌智慧防災平台有六個模組。我們目前做到的是平時篩查：坡地底圖、多源監測和 AI 輔助判釋都有一部分，其中道路與建物暴露是用 OpenStreetMap 疊合，回答坡面崩了會碰到什麼，但不改候選層級。地質目前只拿到影像圖磚，五萬分之一的斷層、位態、順向坡要取得向量後才能分析。降雨觸發、下游災害鏈和應變工作流還沒做，這是從平時篩查走向事件反應的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（備用，評審問到地質時再翻。）我們用 BigGIS 引用的公開地層圖，疊上 2021 到 2024 年的年度崩塌圖層，以坡度 15 度以上的有效坡面當分母，算每個地層的崩塌密度。全區約 5.3%；始新世的西村層，也就是板岩，8.1%，是平均的 1.5 倍；上新世的錦水頁岩只有 1.7%。紅邊下降的比例在幾個主要地層都約 2%，差異不大。限制是這份地層圖比例尺小，沒有斷層和位態，只能做描述性統計；斷層距離和順向坡要取得五萬分之一的向量才能分析。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TASTI_SatDashboard・OSSInt 2026 決賽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gif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地景複發熱點觀測站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坡地韌性哨兵</a:t>
            </a:r>
            <a:endParaRPr lang="en-US" sz="26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把事件目錄、現地照片與衛星影像，整理成每個坡面的證據鏈</a:t>
            </a:r>
            <a:endParaRPr lang="en-US" sz="2600" dirty="0"/>
          </a:p>
        </p:txBody>
      </p:sp>
      <p:sp>
        <p:nvSpPr>
          <p:cNvPr id="4" name="flow0"/>
          <p:cNvSpPr/>
          <p:nvPr/>
        </p:nvSpPr>
        <p:spPr>
          <a:xfrm>
            <a:off x="73152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flow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343400"/>
            <a:ext cx="548640" cy="548640"/>
          </a:xfrm>
          <a:prstGeom prst="rect">
            <a:avLst/>
          </a:prstGeom>
        </p:spPr>
      </p:pic>
      <p:sp>
        <p:nvSpPr>
          <p:cNvPr id="6" name="flowText0"/>
          <p:cNvSpPr txBox="1"/>
          <p:nvPr/>
        </p:nvSpPr>
        <p:spPr>
          <a:xfrm>
            <a:off x="169164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機器幫忙決定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先看誰</a:t>
            </a:r>
            <a:endParaRPr lang="en-US" sz="1600" dirty="0"/>
          </a:p>
        </p:txBody>
      </p:sp>
      <p:sp>
        <p:nvSpPr>
          <p:cNvPr id="7" name="flow1"/>
          <p:cNvSpPr/>
          <p:nvPr/>
        </p:nvSpPr>
        <p:spPr>
          <a:xfrm>
            <a:off x="434340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flow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343400"/>
            <a:ext cx="548640" cy="548640"/>
          </a:xfrm>
          <a:prstGeom prst="rect">
            <a:avLst/>
          </a:prstGeom>
        </p:spPr>
      </p:pic>
      <p:sp>
        <p:nvSpPr>
          <p:cNvPr id="9" name="flowText1"/>
          <p:cNvSpPr txBox="1"/>
          <p:nvPr/>
        </p:nvSpPr>
        <p:spPr>
          <a:xfrm>
            <a:off x="530352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證據鏈告訴你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為什麼</a:t>
            </a:r>
            <a:endParaRPr lang="en-US" sz="1600" dirty="0"/>
          </a:p>
        </p:txBody>
      </p:sp>
      <p:sp>
        <p:nvSpPr>
          <p:cNvPr id="10" name="flow2"/>
          <p:cNvSpPr/>
          <p:nvPr/>
        </p:nvSpPr>
        <p:spPr>
          <a:xfrm>
            <a:off x="795528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flow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4343400"/>
            <a:ext cx="548640" cy="548640"/>
          </a:xfrm>
          <a:prstGeom prst="rect">
            <a:avLst/>
          </a:prstGeom>
        </p:spPr>
      </p:pic>
      <p:sp>
        <p:nvSpPr>
          <p:cNvPr id="12" name="flowText2"/>
          <p:cNvSpPr txBox="1"/>
          <p:nvPr/>
        </p:nvSpPr>
        <p:spPr>
          <a:xfrm>
            <a:off x="891540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最後由人決定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要不要去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TASTI_SatDashboard｜開源空間資訊於國家韌性應用黑客松 OSSInt 2026 決賽　　rhynowu-ardswc-resilience-observatory.hf.space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巡查先看哪裡？證據散在三個地方</a:t>
            </a:r>
            <a:endParaRPr lang="en-US" sz="3200" dirty="0"/>
          </a:p>
        </p:txBody>
      </p:sp>
      <p:sp>
        <p:nvSpPr>
          <p:cNvPr id="3" name="src0"/>
          <p:cNvSpPr/>
          <p:nvPr/>
        </p:nvSpPr>
        <p:spPr>
          <a:xfrm>
            <a:off x="54864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rc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594360" cy="594360"/>
          </a:xfrm>
          <a:prstGeom prst="rect">
            <a:avLst/>
          </a:prstGeom>
        </p:spPr>
      </p:pic>
      <p:sp>
        <p:nvSpPr>
          <p:cNvPr id="5" name="srcH0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事件型崩塌目錄</a:t>
            </a:r>
            <a:endParaRPr lang="en-US" sz="2000" dirty="0"/>
          </a:p>
        </p:txBody>
      </p:sp>
      <p:sp>
        <p:nvSpPr>
          <p:cNvPr id="6" name="srcD0"/>
          <p:cNvSpPr txBox="1"/>
          <p:nvPr/>
        </p:nvSpPr>
        <p:spPr>
          <a:xfrm>
            <a:off x="82296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衛星判釋每次事件「新生或擴大」的部分；只涵蓋看得到的大事件</a:t>
            </a:r>
            <a:endParaRPr lang="en-US" sz="1500" dirty="0"/>
          </a:p>
        </p:txBody>
      </p:sp>
      <p:sp>
        <p:nvSpPr>
          <p:cNvPr id="7" name="src1"/>
          <p:cNvSpPr/>
          <p:nvPr/>
        </p:nvSpPr>
        <p:spPr>
          <a:xfrm>
            <a:off x="429768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src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91640"/>
            <a:ext cx="594360" cy="594360"/>
          </a:xfrm>
          <a:prstGeom prst="rect">
            <a:avLst/>
          </a:prstGeom>
        </p:spPr>
      </p:pic>
      <p:sp>
        <p:nvSpPr>
          <p:cNvPr id="9" name="srcH1"/>
          <p:cNvSpPr txBox="1"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現地歷史照片</a:t>
            </a:r>
            <a:endParaRPr lang="en-US" sz="2000" dirty="0"/>
          </a:p>
        </p:txBody>
      </p:sp>
      <p:sp>
        <p:nvSpPr>
          <p:cNvPr id="10" name="srcD1"/>
          <p:cNvSpPr txBox="1"/>
          <p:nvPr/>
        </p:nvSpPr>
        <p:spPr>
          <a:xfrm>
            <a:off x="457200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補小型崩塌、落石、道路邊坡；多拍在道路可達處</a:t>
            </a:r>
            <a:endParaRPr lang="en-US" sz="1500" dirty="0"/>
          </a:p>
        </p:txBody>
      </p:sp>
      <p:sp>
        <p:nvSpPr>
          <p:cNvPr id="11" name="src2"/>
          <p:cNvSpPr/>
          <p:nvPr/>
        </p:nvSpPr>
        <p:spPr>
          <a:xfrm>
            <a:off x="804672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src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91640"/>
            <a:ext cx="594360" cy="594360"/>
          </a:xfrm>
          <a:prstGeom prst="rect">
            <a:avLst/>
          </a:prstGeom>
        </p:spPr>
      </p:pic>
      <p:sp>
        <p:nvSpPr>
          <p:cNvPr id="13" name="srcH2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近期衛星影像</a:t>
            </a:r>
            <a:endParaRPr lang="en-US" sz="2000" dirty="0"/>
          </a:p>
        </p:txBody>
      </p:sp>
      <p:sp>
        <p:nvSpPr>
          <p:cNvPr id="14" name="srcD2"/>
          <p:cNvSpPr txBox="1"/>
          <p:nvPr/>
        </p:nvSpPr>
        <p:spPr>
          <a:xfrm>
            <a:off x="832104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Sentinel-2 約每 5 天一次；Wayback 解析度高、拍攝不定期</a:t>
            </a:r>
            <a:endParaRPr lang="en-US" sz="1500" dirty="0"/>
          </a:p>
        </p:txBody>
      </p:sp>
      <p:sp>
        <p:nvSpPr>
          <p:cNvPr id="15" name="stat0"/>
          <p:cNvSpPr txBox="1"/>
          <p:nvPr/>
        </p:nvSpPr>
        <p:spPr>
          <a:xfrm>
            <a:off x="54864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約 1,800 km²</a:t>
            </a:r>
            <a:endParaRPr lang="en-US" sz="3600" dirty="0"/>
          </a:p>
        </p:txBody>
      </p:sp>
      <p:sp>
        <p:nvSpPr>
          <p:cNvPr id="16" name="statL0"/>
          <p:cNvSpPr txBox="1"/>
          <p:nvPr/>
        </p:nvSpPr>
        <p:spPr>
          <a:xfrm>
            <a:off x="54864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高雄 POC（桃源・那瑪夏・六龜・甲仙）</a:t>
            </a:r>
            <a:endParaRPr lang="en-US" sz="1400" dirty="0"/>
          </a:p>
        </p:txBody>
      </p:sp>
      <p:sp>
        <p:nvSpPr>
          <p:cNvPr id="17" name="stat1"/>
          <p:cNvSpPr txBox="1"/>
          <p:nvPr/>
        </p:nvSpPr>
        <p:spPr>
          <a:xfrm>
            <a:off x="429768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13,175</a:t>
            </a:r>
            <a:endParaRPr lang="en-US" sz="3600" dirty="0"/>
          </a:p>
        </p:txBody>
      </p:sp>
      <p:sp>
        <p:nvSpPr>
          <p:cNvPr id="18" name="statL1"/>
          <p:cNvSpPr txBox="1"/>
          <p:nvPr/>
        </p:nvSpPr>
        <p:spPr>
          <a:xfrm>
            <a:off x="429768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個坡面單元</a:t>
            </a:r>
            <a:endParaRPr lang="en-US" sz="1400" dirty="0"/>
          </a:p>
        </p:txBody>
      </p:sp>
      <p:sp>
        <p:nvSpPr>
          <p:cNvPr id="19" name="stat2"/>
          <p:cNvSpPr txBox="1"/>
          <p:nvPr/>
        </p:nvSpPr>
        <p:spPr>
          <a:xfrm>
            <a:off x="804672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8,856</a:t>
            </a:r>
            <a:endParaRPr lang="en-US" sz="3600" dirty="0"/>
          </a:p>
        </p:txBody>
      </p:sp>
      <p:sp>
        <p:nvSpPr>
          <p:cNvPr id="20" name="statL2"/>
          <p:cNvSpPr txBox="1"/>
          <p:nvPr/>
        </p:nvSpPr>
        <p:spPr>
          <a:xfrm>
            <a:off x="804672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張現地照片落在 POC 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以坡面為單位，四類證據分開，不給總分</a:t>
            </a:r>
            <a:endParaRPr lang="en-US" sz="3200" dirty="0"/>
          </a:p>
        </p:txBody>
      </p:sp>
      <p:pic>
        <p:nvPicPr>
          <p:cNvPr id="3" name="suMap" descr="v2_on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206240" cy="4206240"/>
          </a:xfrm>
          <a:prstGeom prst="rect">
            <a:avLst/>
          </a:prstGeom>
        </p:spPr>
      </p:pic>
      <p:sp>
        <p:nvSpPr>
          <p:cNvPr id="4" name="suCap"/>
          <p:cNvSpPr txBox="1"/>
          <p:nvPr/>
        </p:nvSpPr>
        <p:spPr>
          <a:xfrm>
            <a:off x="548640" y="55778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集水區重疊法（正、反 DEM）切坡面，只保留坡度 ≥15° 的有效坡面；每個單元都是完整區塊（舊版 85% 不連續 → 0%）</a:t>
            </a:r>
            <a:endParaRPr lang="en-US" sz="1200" dirty="0"/>
          </a:p>
        </p:txBody>
      </p:sp>
      <p:sp>
        <p:nvSpPr>
          <p:cNvPr id="5" name="evDot0"/>
          <p:cNvSpPr/>
          <p:nvPr/>
        </p:nvSpPr>
        <p:spPr>
          <a:xfrm>
            <a:off x="521208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vN0"/>
          <p:cNvSpPr txBox="1"/>
          <p:nvPr/>
        </p:nvSpPr>
        <p:spPr>
          <a:xfrm>
            <a:off x="521208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evT0"/>
          <p:cNvSpPr txBox="1"/>
          <p:nvPr/>
        </p:nvSpPr>
        <p:spPr>
          <a:xfrm>
            <a:off x="5943600" y="13716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事件目錄與年度圖層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主骨架：歷次新增、擴大掛到同一坡面</a:t>
            </a:r>
            <a:endParaRPr lang="en-US" sz="1800" dirty="0"/>
          </a:p>
        </p:txBody>
      </p:sp>
      <p:sp>
        <p:nvSpPr>
          <p:cNvPr id="8" name="evDot1"/>
          <p:cNvSpPr/>
          <p:nvPr/>
        </p:nvSpPr>
        <p:spPr>
          <a:xfrm>
            <a:off x="5212080" y="2286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evN1"/>
          <p:cNvSpPr txBox="1"/>
          <p:nvPr/>
        </p:nvSpPr>
        <p:spPr>
          <a:xfrm>
            <a:off x="5212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②</a:t>
            </a:r>
            <a:endParaRPr lang="en-US" sz="1800" dirty="0"/>
          </a:p>
        </p:txBody>
      </p:sp>
      <p:sp>
        <p:nvSpPr>
          <p:cNvPr id="10" name="evT1"/>
          <p:cNvSpPr txBox="1"/>
          <p:nvPr/>
        </p:nvSpPr>
        <p:spPr>
          <a:xfrm>
            <a:off x="5943600" y="22402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現地照片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補充證據，與①分開計、不相加</a:t>
            </a:r>
            <a:endParaRPr lang="en-US" sz="1800" dirty="0"/>
          </a:p>
        </p:txBody>
      </p:sp>
      <p:sp>
        <p:nvSpPr>
          <p:cNvPr id="11" name="evDot2"/>
          <p:cNvSpPr/>
          <p:nvPr/>
        </p:nvSpPr>
        <p:spPr>
          <a:xfrm>
            <a:off x="5212080" y="3154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evN2"/>
          <p:cNvSpPr txBox="1"/>
          <p:nvPr/>
        </p:nvSpPr>
        <p:spPr>
          <a:xfrm>
            <a:off x="521208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③</a:t>
            </a:r>
            <a:endParaRPr lang="en-US" sz="1800" dirty="0"/>
          </a:p>
        </p:txBody>
      </p:sp>
      <p:sp>
        <p:nvSpPr>
          <p:cNvPr id="13" name="evT2"/>
          <p:cNvSpPr txBox="1"/>
          <p:nvPr/>
        </p:nvSpPr>
        <p:spPr>
          <a:xfrm>
            <a:off x="5943600" y="31089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近期衛星變化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Sentinel-2 時間序列，只回答「最近還有沒有變化」</a:t>
            </a:r>
            <a:endParaRPr lang="en-US" sz="1800" dirty="0"/>
          </a:p>
        </p:txBody>
      </p:sp>
      <p:sp>
        <p:nvSpPr>
          <p:cNvPr id="14" name="evDot3"/>
          <p:cNvSpPr/>
          <p:nvPr/>
        </p:nvSpPr>
        <p:spPr>
          <a:xfrm>
            <a:off x="5212080" y="4023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evN3"/>
          <p:cNvSpPr txBox="1"/>
          <p:nvPr/>
        </p:nvSpPr>
        <p:spPr>
          <a:xfrm>
            <a:off x="521208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④</a:t>
            </a:r>
            <a:endParaRPr lang="en-US" sz="1800" dirty="0"/>
          </a:p>
        </p:txBody>
      </p:sp>
      <p:sp>
        <p:nvSpPr>
          <p:cNvPr id="16" name="evT3"/>
          <p:cNvSpPr txBox="1"/>
          <p:nvPr/>
        </p:nvSpPr>
        <p:spPr>
          <a:xfrm>
            <a:off x="5943600" y="3977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影像品質提醒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雲、陰影、有效觀測筆數、Wayback 偏移</a:t>
            </a:r>
            <a:endParaRPr lang="en-US" sz="1800" dirty="0"/>
          </a:p>
        </p:txBody>
      </p:sp>
      <p:sp>
        <p:nvSpPr>
          <p:cNvPr id="17" name="tierLead"/>
          <p:cNvSpPr txBox="1"/>
          <p:nvPr/>
        </p:nvSpPr>
        <p:spPr>
          <a:xfrm>
            <a:off x="5212080" y="4937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只給三種候選層級，由人決定是否現勘：</a:t>
            </a:r>
            <a:endParaRPr lang="en-US" sz="1500" dirty="0"/>
          </a:p>
        </p:txBody>
      </p:sp>
      <p:sp>
        <p:nvSpPr>
          <p:cNvPr id="18" name="tier0"/>
          <p:cNvSpPr/>
          <p:nvPr/>
        </p:nvSpPr>
        <p:spPr>
          <a:xfrm>
            <a:off x="521208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ierT0"/>
          <p:cNvSpPr txBox="1"/>
          <p:nvPr/>
        </p:nvSpPr>
        <p:spPr>
          <a:xfrm>
            <a:off x="521208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優先人工判讀</a:t>
            </a:r>
            <a:endParaRPr lang="en-US" sz="1500" dirty="0"/>
          </a:p>
        </p:txBody>
      </p:sp>
      <p:sp>
        <p:nvSpPr>
          <p:cNvPr id="20" name="tier1"/>
          <p:cNvSpPr/>
          <p:nvPr/>
        </p:nvSpPr>
        <p:spPr>
          <a:xfrm>
            <a:off x="736092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ierT1"/>
          <p:cNvSpPr txBox="1"/>
          <p:nvPr/>
        </p:nvSpPr>
        <p:spPr>
          <a:xfrm>
            <a:off x="736092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一般判讀</a:t>
            </a:r>
            <a:endParaRPr lang="en-US" sz="1500" dirty="0"/>
          </a:p>
        </p:txBody>
      </p:sp>
      <p:sp>
        <p:nvSpPr>
          <p:cNvPr id="22" name="tier2"/>
          <p:cNvSpPr/>
          <p:nvPr/>
        </p:nvSpPr>
        <p:spPr>
          <a:xfrm>
            <a:off x="950976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ierT2"/>
          <p:cNvSpPr txBox="1"/>
          <p:nvPr/>
        </p:nvSpPr>
        <p:spPr>
          <a:xfrm>
            <a:off x="950976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資料不足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案例：太魯閣 0403 地震，一個坡面的證據鏈</a:t>
            </a:r>
            <a:endParaRPr lang="en-US" sz="3200" dirty="0"/>
          </a:p>
        </p:txBody>
      </p:sp>
      <p:pic>
        <p:nvPicPr>
          <p:cNvPr id="3" name="tarokoGif" descr="taroko_s2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343400" cy="4343400"/>
          </a:xfrm>
          <a:prstGeom prst="rect">
            <a:avLst/>
          </a:prstGeom>
        </p:spPr>
      </p:pic>
      <p:sp>
        <p:nvSpPr>
          <p:cNvPr id="4" name="gifCap"/>
          <p:cNvSpPr txBox="1"/>
          <p:nvPr/>
        </p:nvSpPr>
        <p:spPr>
          <a:xfrm>
            <a:off x="548640" y="5715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白線＝坡面；橘線＝事件目錄的地震崩塌（官方判釋）</a:t>
            </a:r>
            <a:endParaRPr lang="en-US" sz="1200" dirty="0"/>
          </a:p>
        </p:txBody>
      </p:sp>
      <p:graphicFrame>
        <p:nvGraphicFramePr>
          <p:cNvPr id="5" name="ndreChart" descr=""/>
          <p:cNvGraphicFramePr/>
          <p:nvPr/>
        </p:nvGraphicFramePr>
        <p:xfrm>
          <a:off x="5257800" y="1234440"/>
          <a:ext cx="63550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chD0"/>
          <p:cNvSpPr/>
          <p:nvPr/>
        </p:nvSpPr>
        <p:spPr>
          <a:xfrm>
            <a:off x="5257800" y="426110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hN0"/>
          <p:cNvSpPr txBox="1"/>
          <p:nvPr/>
        </p:nvSpPr>
        <p:spPr>
          <a:xfrm>
            <a:off x="5257800" y="4261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</a:t>
            </a:r>
            <a:endParaRPr lang="en-US" sz="1400" dirty="0"/>
          </a:p>
        </p:txBody>
      </p:sp>
      <p:sp>
        <p:nvSpPr>
          <p:cNvPr id="8" name="chT0"/>
          <p:cNvSpPr txBox="1"/>
          <p:nvPr/>
        </p:nvSpPr>
        <p:spPr>
          <a:xfrm>
            <a:off x="5852160" y="42062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事件目錄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0403 地震崩塌在此坡面 10.7 ha（有效坡面 21.4 ha 的一半）</a:t>
            </a:r>
            <a:endParaRPr lang="en-US" sz="1400" dirty="0"/>
          </a:p>
        </p:txBody>
      </p:sp>
      <p:sp>
        <p:nvSpPr>
          <p:cNvPr id="9" name="chD1"/>
          <p:cNvSpPr/>
          <p:nvPr/>
        </p:nvSpPr>
        <p:spPr>
          <a:xfrm>
            <a:off x="5257800" y="491947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hN1"/>
          <p:cNvSpPr txBox="1"/>
          <p:nvPr/>
        </p:nvSpPr>
        <p:spPr>
          <a:xfrm>
            <a:off x="5257800" y="49194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</a:t>
            </a:r>
            <a:endParaRPr lang="en-US" sz="1400" dirty="0"/>
          </a:p>
        </p:txBody>
      </p:sp>
      <p:sp>
        <p:nvSpPr>
          <p:cNvPr id="11" name="chT1"/>
          <p:cNvSpPr txBox="1"/>
          <p:nvPr/>
        </p:nvSpPr>
        <p:spPr>
          <a:xfrm>
            <a:off x="5852160" y="486460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近期衛星變化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NDRE 自 2024-04-14 持續下降（0.53 → 0.20），全區沒有同步</a:t>
            </a:r>
            <a:endParaRPr lang="en-US" sz="1400" dirty="0"/>
          </a:p>
        </p:txBody>
      </p:sp>
      <p:sp>
        <p:nvSpPr>
          <p:cNvPr id="12" name="chD2"/>
          <p:cNvSpPr/>
          <p:nvPr/>
        </p:nvSpPr>
        <p:spPr>
          <a:xfrm>
            <a:off x="5257800" y="557784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chN2"/>
          <p:cNvSpPr txBox="1"/>
          <p:nvPr/>
        </p:nvSpPr>
        <p:spPr>
          <a:xfrm>
            <a:off x="5257800" y="5577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chT2"/>
          <p:cNvSpPr txBox="1"/>
          <p:nvPr/>
        </p:nvSpPr>
        <p:spPr>
          <a:xfrm>
            <a:off x="5852160" y="5522976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結論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列入人工判讀候選；是否現勘由人決定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我們量了它準不準：訊號只能「請人看」</a:t>
            </a:r>
            <a:endParaRPr lang="en-US" sz="3200" dirty="0"/>
          </a:p>
        </p:txBody>
      </p:sp>
      <p:graphicFrame>
        <p:nvGraphicFramePr>
          <p:cNvPr id="3" name="detChart" descr=""/>
          <p:cNvGraphicFramePr/>
          <p:nvPr/>
        </p:nvGraphicFramePr>
        <p:xfrm>
          <a:off x="548640" y="1280160"/>
          <a:ext cx="4069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hartCap"/>
          <p:cNvSpPr txBox="1"/>
          <p:nvPr/>
        </p:nvSpPr>
        <p:spPr>
          <a:xfrm>
            <a:off x="548640" y="53949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橫軸：事件目錄崩塌占坡面有效面積；縱軸：NDRE 持續下降被抓到的比例（太魯閣 5,469 個坡面）</a:t>
            </a:r>
            <a:endParaRPr lang="en-US" sz="1100" dirty="0"/>
          </a:p>
        </p:txBody>
      </p:sp>
      <p:sp>
        <p:nvSpPr>
          <p:cNvPr id="5" name="val0"/>
          <p:cNvSpPr/>
          <p:nvPr/>
        </p:nvSpPr>
        <p:spPr>
          <a:xfrm>
            <a:off x="484632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valN0"/>
          <p:cNvSpPr txBox="1"/>
          <p:nvPr/>
        </p:nvSpPr>
        <p:spPr>
          <a:xfrm>
            <a:off x="502920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7" name="valL0"/>
          <p:cNvSpPr txBox="1"/>
          <p:nvPr/>
        </p:nvSpPr>
        <p:spPr>
          <a:xfrm>
            <a:off x="502920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目視與官方圖層「有無裸露」一致</a:t>
            </a:r>
            <a:endParaRPr lang="en-US" sz="1400" dirty="0"/>
          </a:p>
        </p:txBody>
      </p:sp>
      <p:sp>
        <p:nvSpPr>
          <p:cNvPr id="8" name="valS0"/>
          <p:cNvSpPr txBox="1"/>
          <p:nvPr/>
        </p:nvSpPr>
        <p:spPr>
          <a:xfrm>
            <a:off x="502920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n=29；95% CI 51–83%</a:t>
            </a:r>
            <a:endParaRPr lang="en-US" sz="1100" dirty="0"/>
          </a:p>
        </p:txBody>
      </p:sp>
      <p:sp>
        <p:nvSpPr>
          <p:cNvPr id="9" name="val1"/>
          <p:cNvSpPr/>
          <p:nvPr/>
        </p:nvSpPr>
        <p:spPr>
          <a:xfrm>
            <a:off x="832104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valN1"/>
          <p:cNvSpPr txBox="1"/>
          <p:nvPr/>
        </p:nvSpPr>
        <p:spPr>
          <a:xfrm>
            <a:off x="850392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約 1/4</a:t>
            </a:r>
            <a:endParaRPr lang="en-US" sz="2800" dirty="0"/>
          </a:p>
        </p:txBody>
      </p:sp>
      <p:sp>
        <p:nvSpPr>
          <p:cNvPr id="11" name="valL1"/>
          <p:cNvSpPr txBox="1"/>
          <p:nvPr/>
        </p:nvSpPr>
        <p:spPr>
          <a:xfrm>
            <a:off x="850392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舊版「近期有變化」訊號屬實</a:t>
            </a:r>
            <a:endParaRPr lang="en-US" sz="1400" dirty="0"/>
          </a:p>
        </p:txBody>
      </p:sp>
      <p:sp>
        <p:nvSpPr>
          <p:cNvPr id="12" name="valS1"/>
          <p:cNvSpPr txBox="1"/>
          <p:nvPr/>
        </p:nvSpPr>
        <p:spPr>
          <a:xfrm>
            <a:off x="850392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分層驗證 S1 層 n=4；95% CI 5–70%</a:t>
            </a:r>
            <a:endParaRPr lang="en-US" sz="1100" dirty="0"/>
          </a:p>
        </p:txBody>
      </p:sp>
      <p:sp>
        <p:nvSpPr>
          <p:cNvPr id="13" name="val2"/>
          <p:cNvSpPr/>
          <p:nvPr/>
        </p:nvSpPr>
        <p:spPr>
          <a:xfrm>
            <a:off x="484632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valN2"/>
          <p:cNvSpPr txBox="1"/>
          <p:nvPr/>
        </p:nvSpPr>
        <p:spPr>
          <a:xfrm>
            <a:off x="502920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約 25%</a:t>
            </a:r>
            <a:endParaRPr lang="en-US" sz="2800" dirty="0"/>
          </a:p>
        </p:txBody>
      </p:sp>
      <p:sp>
        <p:nvSpPr>
          <p:cNvPr id="15" name="valL2"/>
          <p:cNvSpPr txBox="1"/>
          <p:nvPr/>
        </p:nvSpPr>
        <p:spPr>
          <a:xfrm>
            <a:off x="502920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高雄全區紅邊下降經盲判屬實</a:t>
            </a:r>
            <a:endParaRPr lang="en-US" sz="1400" dirty="0"/>
          </a:p>
        </p:txBody>
      </p:sp>
      <p:sp>
        <p:nvSpPr>
          <p:cNvPr id="16" name="valS2"/>
          <p:cNvSpPr txBox="1"/>
          <p:nvPr/>
        </p:nvSpPr>
        <p:spPr>
          <a:xfrm>
            <a:off x="502920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分層加權（5/26）；95% CI 5–45%</a:t>
            </a:r>
            <a:endParaRPr lang="en-US" sz="1100" dirty="0"/>
          </a:p>
        </p:txBody>
      </p:sp>
      <p:sp>
        <p:nvSpPr>
          <p:cNvPr id="17" name="val3"/>
          <p:cNvSpPr/>
          <p:nvPr/>
        </p:nvSpPr>
        <p:spPr>
          <a:xfrm>
            <a:off x="832104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alN3"/>
          <p:cNvSpPr txBox="1"/>
          <p:nvPr/>
        </p:nvSpPr>
        <p:spPr>
          <a:xfrm>
            <a:off x="850392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19" name="valL3"/>
          <p:cNvSpPr txBox="1"/>
          <p:nvPr/>
        </p:nvSpPr>
        <p:spPr>
          <a:xfrm>
            <a:off x="850392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大事件後崩塌坡面被抓到（花蓮・太魯閣），誤報約 2%</a:t>
            </a:r>
            <a:endParaRPr lang="en-US" sz="1400" dirty="0"/>
          </a:p>
        </p:txBody>
      </p:sp>
      <p:sp>
        <p:nvSpPr>
          <p:cNvPr id="20" name="valS3"/>
          <p:cNvSpPr txBox="1"/>
          <p:nvPr/>
        </p:nvSpPr>
        <p:spPr>
          <a:xfrm>
            <a:off x="850392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95% CI 66–83%・38–48%；誤報 1.9%・2.0%</a:t>
            </a:r>
            <a:endParaRPr lang="en-US" sz="1100" dirty="0"/>
          </a:p>
        </p:txBody>
      </p:sp>
      <p:sp>
        <p:nvSpPr>
          <p:cNvPr id="21" name="concl"/>
          <p:cNvSpPr/>
          <p:nvPr/>
        </p:nvSpPr>
        <p:spPr>
          <a:xfrm>
            <a:off x="4846320" y="5029200"/>
            <a:ext cx="67665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onclT"/>
          <p:cNvSpPr txBox="1"/>
          <p:nvPr/>
        </p:nvSpPr>
        <p:spPr>
          <a:xfrm>
            <a:off x="5074920" y="5074920"/>
            <a:ext cx="6355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所以：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紅邊指標適合大事件後找出植被大片消失的坡面，平時零星變化不可靠；自動訊號只排「先看誰」，最後由人確認。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可複製、可檢驗，接下來交給第一線檢驗</a:t>
            </a:r>
            <a:endParaRPr lang="en-US" sz="3200" dirty="0"/>
          </a:p>
        </p:txBody>
      </p:sp>
      <p:sp>
        <p:nvSpPr>
          <p:cNvPr id="3" name="nxC0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nx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72768"/>
            <a:ext cx="457200" cy="457200"/>
          </a:xfrm>
          <a:prstGeom prst="rect">
            <a:avLst/>
          </a:prstGeom>
        </p:spPr>
      </p:pic>
      <p:sp>
        <p:nvSpPr>
          <p:cNvPr id="5" name="nxT0"/>
          <p:cNvSpPr txBox="1"/>
          <p:nvPr/>
        </p:nvSpPr>
        <p:spPr>
          <a:xfrm>
            <a:off x="1691640" y="132588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全用開放資料與開源工具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水保署 BigGIS、歷史影像平台、內政部 20 m DEM、Sentinel-2；程式公開在 GitHub</a:t>
            </a:r>
            <a:endParaRPr lang="en-US" sz="2000" dirty="0"/>
          </a:p>
        </p:txBody>
      </p:sp>
      <p:sp>
        <p:nvSpPr>
          <p:cNvPr id="6" name="nxC1"/>
          <p:cNvSpPr/>
          <p:nvPr/>
        </p:nvSpPr>
        <p:spPr>
          <a:xfrm>
            <a:off x="548640" y="269748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nx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898648"/>
            <a:ext cx="457200" cy="457200"/>
          </a:xfrm>
          <a:prstGeom prst="rect">
            <a:avLst/>
          </a:prstGeom>
        </p:spPr>
      </p:pic>
      <p:sp>
        <p:nvSpPr>
          <p:cNvPr id="8" name="nxT1"/>
          <p:cNvSpPr txBox="1"/>
          <p:nvPr/>
        </p:nvSpPr>
        <p:spPr>
          <a:xfrm>
            <a:off x="1691640" y="26517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流程可搬到其他流域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高雄完成完整證據鏈；花蓮、太魯閣加做坡面紅邊檢核；中部、嘉義已測試事件目錄與衛星比對</a:t>
            </a:r>
            <a:endParaRPr lang="en-US" sz="2000" dirty="0"/>
          </a:p>
        </p:txBody>
      </p:sp>
      <p:sp>
        <p:nvSpPr>
          <p:cNvPr id="9" name="nxC2"/>
          <p:cNvSpPr/>
          <p:nvPr/>
        </p:nvSpPr>
        <p:spPr>
          <a:xfrm>
            <a:off x="548640" y="402336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nx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224528"/>
            <a:ext cx="457200" cy="457200"/>
          </a:xfrm>
          <a:prstGeom prst="rect">
            <a:avLst/>
          </a:prstGeom>
        </p:spPr>
      </p:pic>
      <p:sp>
        <p:nvSpPr>
          <p:cNvPr id="11" name="nxT2"/>
          <p:cNvSpPr txBox="1"/>
          <p:nvPr/>
        </p:nvSpPr>
        <p:spPr>
          <a:xfrm>
            <a:off x="1691640" y="397764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人工驗證持續進行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專家盲判 2–3 位、實務人員操作測試 3–5 位；依結果調整候選規則</a:t>
            </a:r>
            <a:endParaRPr lang="en-US" sz="2000" dirty="0"/>
          </a:p>
        </p:txBody>
      </p:sp>
      <p:sp>
        <p:nvSpPr>
          <p:cNvPr id="12" name="closing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losingT"/>
          <p:cNvSpPr txBox="1"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機器幫忙決定先看誰・證據鏈告訴你為什麼・最後由人決定要不要去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備用｜對照崩塌智慧防災構想：現在在哪、下一步</a:t>
            </a:r>
            <a:endParaRPr lang="en-US" sz="3200" dirty="0"/>
          </a:p>
        </p:txBody>
      </p:sp>
      <p:sp>
        <p:nvSpPr>
          <p:cNvPr id="3" name="mod0"/>
          <p:cNvSpPr/>
          <p:nvPr/>
        </p:nvSpPr>
        <p:spPr>
          <a:xfrm>
            <a:off x="54864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dH0"/>
          <p:cNvSpPr txBox="1"/>
          <p:nvPr/>
        </p:nvSpPr>
        <p:spPr>
          <a:xfrm>
            <a:off x="73152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一、坡地風險底圖</a:t>
            </a:r>
            <a:endParaRPr lang="en-US" sz="1600" dirty="0"/>
          </a:p>
        </p:txBody>
      </p:sp>
      <p:sp>
        <p:nvSpPr>
          <p:cNvPr id="5" name="modP0"/>
          <p:cNvSpPr/>
          <p:nvPr/>
        </p:nvSpPr>
        <p:spPr>
          <a:xfrm>
            <a:off x="324612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modPT0"/>
          <p:cNvSpPr txBox="1"/>
          <p:nvPr/>
        </p:nvSpPr>
        <p:spPr>
          <a:xfrm>
            <a:off x="324612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7" name="modT0"/>
          <p:cNvSpPr txBox="1"/>
          <p:nvPr/>
        </p:nvSpPr>
        <p:spPr>
          <a:xfrm>
            <a:off x="73152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20 m DEM、≥15° 有效坡面、事件目錄、四年崩塌圖層；新增 OSM 道路與建物暴露（坡面外推 100 m）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五萬分之一斷層、位態、順向坡尚缺向量（小比例尺地層見下頁）</a:t>
            </a:r>
            <a:endParaRPr lang="en-US" sz="1400" dirty="0"/>
          </a:p>
        </p:txBody>
      </p:sp>
      <p:sp>
        <p:nvSpPr>
          <p:cNvPr id="8" name="mod1"/>
          <p:cNvSpPr/>
          <p:nvPr/>
        </p:nvSpPr>
        <p:spPr>
          <a:xfrm>
            <a:off x="429768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odH1"/>
          <p:cNvSpPr txBox="1"/>
          <p:nvPr/>
        </p:nvSpPr>
        <p:spPr>
          <a:xfrm>
            <a:off x="448056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二、降雨觸發與前期含水</a:t>
            </a:r>
            <a:endParaRPr lang="en-US" sz="1600" dirty="0"/>
          </a:p>
        </p:txBody>
      </p:sp>
      <p:sp>
        <p:nvSpPr>
          <p:cNvPr id="10" name="modP1"/>
          <p:cNvSpPr/>
          <p:nvPr/>
        </p:nvSpPr>
        <p:spPr>
          <a:xfrm>
            <a:off x="699516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modPT1"/>
          <p:cNvSpPr txBox="1"/>
          <p:nvPr/>
        </p:nvSpPr>
        <p:spPr>
          <a:xfrm>
            <a:off x="699516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未做</a:t>
            </a:r>
            <a:endParaRPr lang="en-US" sz="1200" dirty="0"/>
          </a:p>
        </p:txBody>
      </p:sp>
      <p:sp>
        <p:nvSpPr>
          <p:cNvPr id="12" name="modT1"/>
          <p:cNvSpPr txBox="1"/>
          <p:nvPr/>
        </p:nvSpPr>
        <p:spPr>
          <a:xfrm>
            <a:off x="448056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—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雨量 I-D 曲線、前期累積雨量、土壤含水</a:t>
            </a:r>
            <a:endParaRPr lang="en-US" sz="1400" dirty="0"/>
          </a:p>
        </p:txBody>
      </p:sp>
      <p:sp>
        <p:nvSpPr>
          <p:cNvPr id="13" name="mod2"/>
          <p:cNvSpPr/>
          <p:nvPr/>
        </p:nvSpPr>
        <p:spPr>
          <a:xfrm>
            <a:off x="804672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odH2"/>
          <p:cNvSpPr txBox="1"/>
          <p:nvPr/>
        </p:nvSpPr>
        <p:spPr>
          <a:xfrm>
            <a:off x="822960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三、多源監測與異常偵測</a:t>
            </a:r>
            <a:endParaRPr lang="en-US" sz="1600" dirty="0"/>
          </a:p>
        </p:txBody>
      </p:sp>
      <p:sp>
        <p:nvSpPr>
          <p:cNvPr id="15" name="modP2"/>
          <p:cNvSpPr/>
          <p:nvPr/>
        </p:nvSpPr>
        <p:spPr>
          <a:xfrm>
            <a:off x="1074420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modPT2"/>
          <p:cNvSpPr txBox="1"/>
          <p:nvPr/>
        </p:nvSpPr>
        <p:spPr>
          <a:xfrm>
            <a:off x="1074420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17" name="modT2"/>
          <p:cNvSpPr txBox="1"/>
          <p:nvPr/>
        </p:nvSpPr>
        <p:spPr>
          <a:xfrm>
            <a:off x="822960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Sentinel-2 紅邊時間序列、Sentinel-1、現地照片、Wayback 人工查證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InSAR、微地動、水位；UAV 依輔導建議暫停</a:t>
            </a:r>
            <a:endParaRPr lang="en-US" sz="1400" dirty="0"/>
          </a:p>
        </p:txBody>
      </p:sp>
      <p:sp>
        <p:nvSpPr>
          <p:cNvPr id="18" name="mod3"/>
          <p:cNvSpPr/>
          <p:nvPr/>
        </p:nvSpPr>
        <p:spPr>
          <a:xfrm>
            <a:off x="54864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modH3"/>
          <p:cNvSpPr txBox="1"/>
          <p:nvPr/>
        </p:nvSpPr>
        <p:spPr>
          <a:xfrm>
            <a:off x="73152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四、AI 輔助判釋</a:t>
            </a:r>
            <a:endParaRPr lang="en-US" sz="1600" dirty="0"/>
          </a:p>
        </p:txBody>
      </p:sp>
      <p:sp>
        <p:nvSpPr>
          <p:cNvPr id="20" name="modP3"/>
          <p:cNvSpPr/>
          <p:nvPr/>
        </p:nvSpPr>
        <p:spPr>
          <a:xfrm>
            <a:off x="324612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modPT3"/>
          <p:cNvSpPr txBox="1"/>
          <p:nvPr/>
        </p:nvSpPr>
        <p:spPr>
          <a:xfrm>
            <a:off x="324612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22" name="modT3"/>
          <p:cNvSpPr txBox="1"/>
          <p:nvPr/>
        </p:nvSpPr>
        <p:spPr>
          <a:xfrm>
            <a:off x="73152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三級候選、坡面證據頁、每項訊號的準確度與 95% 信賴區間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自動產生研判摘要與待確認事項</a:t>
            </a:r>
            <a:endParaRPr lang="en-US" sz="1400" dirty="0"/>
          </a:p>
        </p:txBody>
      </p:sp>
      <p:sp>
        <p:nvSpPr>
          <p:cNvPr id="23" name="mod4"/>
          <p:cNvSpPr/>
          <p:nvPr/>
        </p:nvSpPr>
        <p:spPr>
          <a:xfrm>
            <a:off x="429768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modH4"/>
          <p:cNvSpPr txBox="1"/>
          <p:nvPr/>
        </p:nvSpPr>
        <p:spPr>
          <a:xfrm>
            <a:off x="448056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五、下游影響與災害鏈</a:t>
            </a:r>
            <a:endParaRPr lang="en-US" sz="1600" dirty="0"/>
          </a:p>
        </p:txBody>
      </p:sp>
      <p:sp>
        <p:nvSpPr>
          <p:cNvPr id="25" name="modP4"/>
          <p:cNvSpPr/>
          <p:nvPr/>
        </p:nvSpPr>
        <p:spPr>
          <a:xfrm>
            <a:off x="699516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modPT4"/>
          <p:cNvSpPr txBox="1"/>
          <p:nvPr/>
        </p:nvSpPr>
        <p:spPr>
          <a:xfrm>
            <a:off x="699516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未做</a:t>
            </a:r>
            <a:endParaRPr lang="en-US" sz="1200" dirty="0"/>
          </a:p>
        </p:txBody>
      </p:sp>
      <p:sp>
        <p:nvSpPr>
          <p:cNvPr id="27" name="modT4"/>
          <p:cNvSpPr txBox="1"/>
          <p:nvPr/>
        </p:nvSpPr>
        <p:spPr>
          <a:xfrm>
            <a:off x="448056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花蓮堰塞湖只做到崩塌偵測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崩塌 → 土砂 → 河道 → 堰塞 → 下游的串接</a:t>
            </a:r>
            <a:endParaRPr lang="en-US" sz="1400" dirty="0"/>
          </a:p>
        </p:txBody>
      </p:sp>
      <p:sp>
        <p:nvSpPr>
          <p:cNvPr id="28" name="mod5"/>
          <p:cNvSpPr/>
          <p:nvPr/>
        </p:nvSpPr>
        <p:spPr>
          <a:xfrm>
            <a:off x="804672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modH5"/>
          <p:cNvSpPr txBox="1"/>
          <p:nvPr/>
        </p:nvSpPr>
        <p:spPr>
          <a:xfrm>
            <a:off x="822960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六、應變工作流</a:t>
            </a:r>
            <a:endParaRPr lang="en-US" sz="1600" dirty="0"/>
          </a:p>
        </p:txBody>
      </p:sp>
      <p:sp>
        <p:nvSpPr>
          <p:cNvPr id="30" name="modP5"/>
          <p:cNvSpPr/>
          <p:nvPr/>
        </p:nvSpPr>
        <p:spPr>
          <a:xfrm>
            <a:off x="1074420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modPT5"/>
          <p:cNvSpPr txBox="1"/>
          <p:nvPr/>
        </p:nvSpPr>
        <p:spPr>
          <a:xfrm>
            <a:off x="1074420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32" name="modT5"/>
          <p:cNvSpPr txBox="1"/>
          <p:nvPr/>
        </p:nvSpPr>
        <p:spPr>
          <a:xfrm>
            <a:off x="822960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實務人員測試頁：判斷要不要現勘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事件建立、任務派發、決策紀錄</a:t>
            </a:r>
            <a:endParaRPr lang="en-US" sz="1400" dirty="0"/>
          </a:p>
        </p:txBody>
      </p:sp>
      <p:sp>
        <p:nvSpPr>
          <p:cNvPr id="33" name="posBar"/>
          <p:cNvSpPr/>
          <p:nvPr/>
        </p:nvSpPr>
        <p:spPr>
          <a:xfrm>
            <a:off x="548640" y="5760720"/>
            <a:ext cx="110642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posBarT"/>
          <p:cNvSpPr txBox="1"/>
          <p:nvPr/>
        </p:nvSpPr>
        <p:spPr>
          <a:xfrm>
            <a:off x="77724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目前位置：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平時篩查（構想第一階段尾、第二階段開頭）　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下一步：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取得地質向量、串接降雨觸發與下游影響，走向事件反應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備用｜地質：哪些地層比較容易崩（粗尺度）</a:t>
            </a:r>
            <a:endParaRPr lang="en-US" sz="3200" dirty="0"/>
          </a:p>
        </p:txBody>
      </p:sp>
      <p:graphicFrame>
        <p:nvGraphicFramePr>
          <p:cNvPr id="9" name="geo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00200"/>
                <a:gridCol w="1234440"/>
                <a:gridCol w="1005840"/>
                <a:gridCol w="1097280"/>
                <a:gridCol w="914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地層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年代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有效坡面 km²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崩塌 ha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崩塌密度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頻率比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NDRE 下降坡面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三峽群及其相當地層（Ms）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中新世晚期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643.0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1,965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2.0%（95/4,869）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西村層，新高層（Eh）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始新世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541.6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4,403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1.7%（65/3,848）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廬山層（Ml）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408.5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2,357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5.8%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2.2%（65/2,908）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瑞芳群及其相當地層（Mj）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中新世中期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5.0%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2.0%（9/448）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錦水頁岩及其相當地層（P1）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50.6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0.0%（0/465）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臺地堆積（Q4）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更新世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3.9%（5/129）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頭嵙山層及其相當地層（PQc）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上新世－更新世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0.0%（0/37）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廬山層（v）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0.0%（0/27）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沖積層（Q6）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5.9%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9.5%（4/42）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全區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1,718.4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9,147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1.9%（243/12,776）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4" name="geoN0"/>
          <p:cNvSpPr/>
          <p:nvPr/>
        </p:nvSpPr>
        <p:spPr>
          <a:xfrm>
            <a:off x="548640" y="5029200"/>
            <a:ext cx="544068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geoNT0"/>
          <p:cNvSpPr txBox="1"/>
          <p:nvPr/>
        </p:nvSpPr>
        <p:spPr>
          <a:xfrm>
            <a:off x="731520" y="507492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讀法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崩塌密度＝2021–2024 年度崩塌圖層聯集 ÷ ≥15° 有效坡面；頻率比 &gt;1 表示比全區平均容易崩。始新世西村層（板岩）1.53 最高，上新世錦水頁岩 0.32 最低。NDRE 下降比例在面積大的主要地層都約 2%，差異不大（小地層樣本太少）。</a:t>
            </a:r>
            <a:endParaRPr lang="en-US" sz="1200" dirty="0"/>
          </a:p>
        </p:txBody>
      </p:sp>
      <p:sp>
        <p:nvSpPr>
          <p:cNvPr id="6" name="geoN1"/>
          <p:cNvSpPr/>
          <p:nvPr/>
        </p:nvSpPr>
        <p:spPr>
          <a:xfrm>
            <a:off x="6172200" y="5029200"/>
            <a:ext cx="544068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geoNT1"/>
          <p:cNvSpPr txBox="1"/>
          <p:nvPr/>
        </p:nvSpPr>
        <p:spPr>
          <a:xfrm>
            <a:off x="6355080" y="507492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限制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公開的只有小比例尺地層面（POC 內一塊中位數約 160 ha），沒有斷層、位態、崩積區；這是描述性統計，不是敏感度模型。斷層距離與順向坡要五萬分之一向量。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opeSentinel">
  <a:themeElements>
    <a:clrScheme name="SlopeSentinel">
      <a:dk1>
        <a:srgbClr val="1E2B22"/>
      </a:dk1>
      <a:lt1>
        <a:srgbClr val="FFFFFF"/>
      </a:lt1>
      <a:dk2>
        <a:srgbClr val="2C5F2D"/>
      </a:dk2>
      <a:lt2>
        <a:srgbClr val="EEF3EC"/>
      </a:lt2>
      <a:accent1>
        <a:srgbClr val="2C5F2D"/>
      </a:accent1>
      <a:accent2>
        <a:srgbClr val="B85042"/>
      </a:accent2>
      <a:accent3>
        <a:srgbClr val="97BC62"/>
      </a:accent3>
      <a:accent4>
        <a:srgbClr val="5E6B63"/>
      </a:accent4>
      <a:accent5>
        <a:srgbClr val="D9A441"/>
      </a:accent5>
      <a:accent6>
        <a:srgbClr val="4A6FA5"/>
      </a:accent6>
      <a:hlink>
        <a:srgbClr val="2C5F2D"/>
      </a:hlink>
      <a:folHlink>
        <a:srgbClr val="5E6B63"/>
      </a:folHlink>
    </a:clrScheme>
    <a:fontScheme name="SlopeSentinel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地景複發熱點觀測站</dc:title>
  <dc:subject>PptxGenJS Presentation</dc:subject>
  <dc:creator>TASTI_SatDashboard</dc:creator>
  <cp:lastModifiedBy>TASTI_SatDashboard</cp:lastModifiedBy>
  <cp:revision>1</cp:revision>
  <dcterms:created xsi:type="dcterms:W3CDTF">2026-10-25T13:21:55Z</dcterms:created>
  <dcterms:modified xsi:type="dcterms:W3CDTF">2026-10-25T13:21:55Z</dcterms:modified>
</cp:coreProperties>
</file>