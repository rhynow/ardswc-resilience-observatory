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bcbc6588-7869-7734-9b6e-aa082077699c}">
          <p14:sldIdLst>
            <p14:sldId id="256"/>
          </p14:sldIdLst>
        </p14:section>
        <p14:section name="問題" id="{38314b1f-5505-e86a-c6bb-7236a2fe78af}">
          <p14:sldIdLst>
            <p14:sldId id="257"/>
          </p14:sldIdLst>
        </p14:section>
        <p14:section name="技術亮點" id="{27e1e5a5-0712-2c38-ae88-060e36d98a61}">
          <p14:sldIdLst>
            <p14:sldId id="258"/>
          </p14:sldIdLst>
        </p14:section>
        <p14:section name="架構創新" id="{c4218466-a9a2-2284-6546-c29670995337}">
          <p14:sldIdLst>
            <p14:sldId id="259"/>
          </p14:sldIdLst>
        </p14:section>
        <p14:section name="韌性呈現" id="{07c57c3f-3988-93a4-81c4-3e85d4199546}">
          <p14:sldIdLst>
            <p14:sldId id="260"/>
          </p14:sldIdLst>
        </p14:section>
        <p14:section name="啟示" id="{1dfcb282-ea60-27ba-24b0-7cb6c238240a}">
          <p14:sldIdLst>
            <p14:sldId id="261"/>
            <p14:sldId id="262"/>
          </p14:sldIdLst>
        </p14:section>
        <p14:section name="備用" id="{c5acb712-001b-7f6c-7642-a2e01d9593fa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B22"/>
                </a:solidFill>
                <a:latin typeface="+mn-lt"/>
              </a:rPr>
              <a:t>太魯閣：崩塌占坡面越大越抓得到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此坡面 NDRE：地震後 0.53 → 0.20，之後沒有回來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技術亮點有三個。第一，以坡面為單位：依輔導委員建議用集水區重疊法切出 1 萬 3 千個坡面，每個都是完整區塊。第二，用免費的 Sentinel-2 紅邊時間序列，在花蓮、太魯閣大事件後抓到 75% 和 43% 的崩塌坡面，沒有事件的坡面誤報約 2%；中間這張圖顯示，崩塌占坡面越大越抓得到。第三，水保署歷史影像平台上的 UAV 照片沒有 GPS，我們用特徵匹配和 20 m 地形自動對位，目前 50 組，其中 19 組在高雄，留出點誤差中位數約 2 公尺。重點是：每個數字我們都量過準確度。（約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上，資料全部是開放資料，切成坡面單元後，每個坡面掛五類證據：事件目錄是主骨架，照片是補充，衛星只回答最近還有沒有變化，再加上影像品質提醒，以及崩了會碰到什麼——道路、聚落和土石流潛勢溪流。我們刻意不給總分，因為分數會掩蓋為什麼；看不到就標資料不足；驗證紀錄可以稽核。最後只給三種候選層級，由人決定要不要去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韌性呈現在於每個坡面都有一份履歷。左邊是太魯閣一個坡面：橘線是官方圈出的地震崩塌，地震後紅邊指標從 0.53 掉到 0.20，之後沒有回來，全區只是正常季節起伏。太魯閣 330 個持續下降的坡面中，229 個出現在地震當月，大事件後幾週內就能列出要先看的坡面。履歷也回答崩了會碰到誰：高雄 411 個優先坡面中，200 個附近有道路，67 個位在土石流潛勢溪流集水區。（約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對公部門的啟示：我們量了準確度。大事件後，花蓮 75%、太魯閣 43% 的崩塌坡面被抓到；但平時零星的紅邊下降，經分層盲判只有約 25% 屬實；所以自動訊號只能排先看誰，不能拿來判定，導入前一定要先量。量過之後效益很清楚：花蓮只要先看 3% 的坡面，就涵蓋四分之三的崩塌坡面。這套流程可複製、可延展、能落地：花蓮、太魯閣已用同一套跑過，新證據可以直接加一類；資料都來自水保署既有平台，產出的候選清單接得上現有巡查流程。水保署 10 月 28 日新上線的崩塌報告專區已附影像日期與完成判釋率，若再附點位檔、UAV 照片保留座標，這種小改變就能省下大量事後工作。（約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最後，對全民的啟示：坡地資訊要看得懂、查得到、也能一起補。我們不給風險分數，看不到就說看不到；每個坡面頁列出附近的道路、建物和土石流潛勢溪流，還能用 3D 和逐年航照看；山區建物在 OpenStreetMap 常缺漏，志工補上的每一筆都有用，程式全部開源。我們不是重新發明崩塌判釋，而是把既有證據整理成可追蹤的坡面履歷：機器幫忙決定先看誰，證據鏈告訴你為什麼，最後由人決定要不要去。謝謝。（約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下游影響目前只列出坡面所在的土石流潛勢溪流集水區與影響範圍；降雨觸發、土砂與河道的動態串接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技術亮點：免費衛星＋開放資料，每個數字都量過</a:t>
            </a:r>
            <a:endParaRPr lang="en-US" sz="3200" dirty="0"/>
          </a:p>
        </p:txBody>
      </p:sp>
      <p:sp>
        <p:nvSpPr>
          <p:cNvPr id="3" name="techBg0"/>
          <p:cNvSpPr/>
          <p:nvPr/>
        </p:nvSpPr>
        <p:spPr>
          <a:xfrm>
            <a:off x="54864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techImg0" descr="v2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3291840" cy="2514600"/>
          </a:xfrm>
          <a:prstGeom prst="rect">
            <a:avLst/>
          </a:prstGeom>
        </p:spPr>
      </p:pic>
      <p:sp>
        <p:nvSpPr>
          <p:cNvPr id="5" name="techN0"/>
          <p:cNvSpPr txBox="1"/>
          <p:nvPr/>
        </p:nvSpPr>
        <p:spPr>
          <a:xfrm>
            <a:off x="77724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13,175</a:t>
            </a:r>
            <a:endParaRPr lang="en-US" sz="3200" dirty="0"/>
          </a:p>
        </p:txBody>
      </p:sp>
      <p:sp>
        <p:nvSpPr>
          <p:cNvPr id="6" name="techH0"/>
          <p:cNvSpPr txBox="1"/>
          <p:nvPr/>
        </p:nvSpPr>
        <p:spPr>
          <a:xfrm>
            <a:off x="77724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個坡面單元，不是網格</a:t>
            </a:r>
            <a:endParaRPr lang="en-US" sz="1600" dirty="0"/>
          </a:p>
        </p:txBody>
      </p:sp>
      <p:sp>
        <p:nvSpPr>
          <p:cNvPr id="7" name="techD0"/>
          <p:cNvSpPr txBox="1"/>
          <p:nvPr/>
        </p:nvSpPr>
        <p:spPr>
          <a:xfrm>
            <a:off x="77724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集水區重疊法切分；12,730 個有 ≥15° 有效坡面。舊版 85% 不連續 → 0%</a:t>
            </a:r>
            <a:endParaRPr lang="en-US" sz="1300" dirty="0"/>
          </a:p>
        </p:txBody>
      </p:sp>
      <p:sp>
        <p:nvSpPr>
          <p:cNvPr id="8" name="techBg1"/>
          <p:cNvSpPr/>
          <p:nvPr/>
        </p:nvSpPr>
        <p:spPr>
          <a:xfrm>
            <a:off x="429768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chN1"/>
          <p:cNvSpPr txBox="1"/>
          <p:nvPr/>
        </p:nvSpPr>
        <p:spPr>
          <a:xfrm>
            <a:off x="45262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75%・43%</a:t>
            </a:r>
            <a:endParaRPr lang="en-US" sz="3200" dirty="0"/>
          </a:p>
        </p:txBody>
      </p:sp>
      <p:sp>
        <p:nvSpPr>
          <p:cNvPr id="10" name="techH1"/>
          <p:cNvSpPr txBox="1"/>
          <p:nvPr/>
        </p:nvSpPr>
        <p:spPr>
          <a:xfrm>
            <a:off x="452628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大事件後抓到崩塌坡面</a:t>
            </a:r>
            <a:endParaRPr lang="en-US" sz="1600" dirty="0"/>
          </a:p>
        </p:txBody>
      </p:sp>
      <p:sp>
        <p:nvSpPr>
          <p:cNvPr id="11" name="techD1"/>
          <p:cNvSpPr txBox="1"/>
          <p:nvPr/>
        </p:nvSpPr>
        <p:spPr>
          <a:xfrm>
            <a:off x="452628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Sentinel-2 紅邊時間序列（花蓮・太魯閣）；沒事件的坡面誤報約 2%</a:t>
            </a:r>
            <a:endParaRPr lang="en-US" sz="1300" dirty="0"/>
          </a:p>
        </p:txBody>
      </p:sp>
      <p:sp>
        <p:nvSpPr>
          <p:cNvPr id="12" name="techBg2"/>
          <p:cNvSpPr/>
          <p:nvPr/>
        </p:nvSpPr>
        <p:spPr>
          <a:xfrm>
            <a:off x="804672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techImg2" descr="uav_baolai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83880" y="1371600"/>
            <a:ext cx="3291840" cy="2514600"/>
          </a:xfrm>
          <a:prstGeom prst="rect">
            <a:avLst/>
          </a:prstGeom>
        </p:spPr>
      </p:pic>
      <p:sp>
        <p:nvSpPr>
          <p:cNvPr id="14" name="techN2"/>
          <p:cNvSpPr txBox="1"/>
          <p:nvPr/>
        </p:nvSpPr>
        <p:spPr>
          <a:xfrm>
            <a:off x="827532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50</a:t>
            </a:r>
            <a:endParaRPr lang="en-US" sz="3200" dirty="0"/>
          </a:p>
        </p:txBody>
      </p:sp>
      <p:sp>
        <p:nvSpPr>
          <p:cNvPr id="15" name="techH2"/>
          <p:cNvSpPr txBox="1"/>
          <p:nvPr/>
        </p:nvSpPr>
        <p:spPr>
          <a:xfrm>
            <a:off x="827532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組沒有 GPS 的 UAV 照片自動對位</a:t>
            </a:r>
            <a:endParaRPr lang="en-US" sz="1600" dirty="0"/>
          </a:p>
        </p:txBody>
      </p:sp>
      <p:sp>
        <p:nvSpPr>
          <p:cNvPr id="16" name="techD2"/>
          <p:cNvSpPr txBox="1"/>
          <p:nvPr/>
        </p:nvSpPr>
        <p:spPr>
          <a:xfrm>
            <a:off x="827532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LoFTR 特徵匹配＋20 m DTM，貼回地形；19 組在高雄，誤差中位數 2.2 m</a:t>
            </a:r>
            <a:endParaRPr lang="en-US" sz="1300" dirty="0"/>
          </a:p>
        </p:txBody>
      </p:sp>
      <p:graphicFrame>
        <p:nvGraphicFramePr>
          <p:cNvPr id="17" name="techChart" descr=""/>
          <p:cNvGraphicFramePr/>
          <p:nvPr/>
        </p:nvGraphicFramePr>
        <p:xfrm>
          <a:off x="4434840" y="1371600"/>
          <a:ext cx="32918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架構創新：證據鏈分開呈現，不給總分，最後由人決定</a:t>
            </a:r>
            <a:endParaRPr lang="en-US" sz="3200" dirty="0"/>
          </a:p>
        </p:txBody>
      </p:sp>
      <p:sp>
        <p:nvSpPr>
          <p:cNvPr id="3" name="flw0"/>
          <p:cNvSpPr/>
          <p:nvPr/>
        </p:nvSpPr>
        <p:spPr>
          <a:xfrm>
            <a:off x="548640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wT0"/>
          <p:cNvSpPr txBox="1"/>
          <p:nvPr/>
        </p:nvSpPr>
        <p:spPr>
          <a:xfrm>
            <a:off x="685800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開放資料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事件目錄・年度圖層・照片・Sentinel-2・DEM・OSM</a:t>
            </a:r>
            <a:endParaRPr lang="en-US" sz="1700" dirty="0"/>
          </a:p>
        </p:txBody>
      </p:sp>
      <p:sp>
        <p:nvSpPr>
          <p:cNvPr id="5" name="flwA0"/>
          <p:cNvSpPr txBox="1"/>
          <p:nvPr/>
        </p:nvSpPr>
        <p:spPr>
          <a:xfrm>
            <a:off x="2596896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6" name="flw1"/>
          <p:cNvSpPr/>
          <p:nvPr/>
        </p:nvSpPr>
        <p:spPr>
          <a:xfrm>
            <a:off x="2807208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wT1"/>
          <p:cNvSpPr txBox="1"/>
          <p:nvPr/>
        </p:nvSpPr>
        <p:spPr>
          <a:xfrm>
            <a:off x="2944368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坡面單元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SUv2，版本化 ID</a:t>
            </a:r>
            <a:endParaRPr lang="en-US" sz="1700" dirty="0"/>
          </a:p>
        </p:txBody>
      </p:sp>
      <p:sp>
        <p:nvSpPr>
          <p:cNvPr id="8" name="flwA1"/>
          <p:cNvSpPr txBox="1"/>
          <p:nvPr/>
        </p:nvSpPr>
        <p:spPr>
          <a:xfrm>
            <a:off x="4855464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flw2"/>
          <p:cNvSpPr/>
          <p:nvPr/>
        </p:nvSpPr>
        <p:spPr>
          <a:xfrm>
            <a:off x="5065776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wT2"/>
          <p:cNvSpPr txBox="1"/>
          <p:nvPr/>
        </p:nvSpPr>
        <p:spPr>
          <a:xfrm>
            <a:off x="5202936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證據鏈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五類證據，各附限制</a:t>
            </a:r>
            <a:endParaRPr lang="en-US" sz="1700" dirty="0"/>
          </a:p>
        </p:txBody>
      </p:sp>
      <p:sp>
        <p:nvSpPr>
          <p:cNvPr id="11" name="flwA2"/>
          <p:cNvSpPr txBox="1"/>
          <p:nvPr/>
        </p:nvSpPr>
        <p:spPr>
          <a:xfrm>
            <a:off x="7114032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flw3"/>
          <p:cNvSpPr/>
          <p:nvPr/>
        </p:nvSpPr>
        <p:spPr>
          <a:xfrm>
            <a:off x="7324344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wT3"/>
          <p:cNvSpPr txBox="1"/>
          <p:nvPr/>
        </p:nvSpPr>
        <p:spPr>
          <a:xfrm>
            <a:off x="7461504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三種候選層級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優先・一般・資料不足</a:t>
            </a:r>
            <a:endParaRPr lang="en-US" sz="1700" dirty="0"/>
          </a:p>
        </p:txBody>
      </p:sp>
      <p:sp>
        <p:nvSpPr>
          <p:cNvPr id="14" name="flwA3"/>
          <p:cNvSpPr txBox="1"/>
          <p:nvPr/>
        </p:nvSpPr>
        <p:spPr>
          <a:xfrm>
            <a:off x="9372600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flw4"/>
          <p:cNvSpPr/>
          <p:nvPr/>
        </p:nvSpPr>
        <p:spPr>
          <a:xfrm>
            <a:off x="9582912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wT4"/>
          <p:cNvSpPr txBox="1"/>
          <p:nvPr/>
        </p:nvSpPr>
        <p:spPr>
          <a:xfrm>
            <a:off x="9720072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人決定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要不要現勘；結果回饋規則</a:t>
            </a:r>
            <a:endParaRPr lang="en-US" sz="1700" dirty="0"/>
          </a:p>
        </p:txBody>
      </p:sp>
      <p:sp>
        <p:nvSpPr>
          <p:cNvPr id="17" name="evLead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每個坡面的五類證據</a:t>
            </a:r>
            <a:endParaRPr lang="en-US" sz="1500" dirty="0"/>
          </a:p>
        </p:txBody>
      </p:sp>
      <p:sp>
        <p:nvSpPr>
          <p:cNvPr id="18" name="ev2D0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v2N0"/>
          <p:cNvSpPr txBox="1"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20" name="ev2T0"/>
          <p:cNvSpPr txBox="1"/>
          <p:nvPr/>
        </p:nvSpPr>
        <p:spPr>
          <a:xfrm>
            <a:off x="109728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事件目錄與年度圖層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</a:t>
            </a:r>
            <a:endParaRPr lang="en-US" sz="1400" dirty="0"/>
          </a:p>
        </p:txBody>
      </p:sp>
      <p:sp>
        <p:nvSpPr>
          <p:cNvPr id="21" name="ev2D1"/>
          <p:cNvSpPr/>
          <p:nvPr/>
        </p:nvSpPr>
        <p:spPr>
          <a:xfrm>
            <a:off x="54864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ev2N1"/>
          <p:cNvSpPr txBox="1"/>
          <p:nvPr/>
        </p:nvSpPr>
        <p:spPr>
          <a:xfrm>
            <a:off x="54864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23" name="ev2T1"/>
          <p:cNvSpPr txBox="1"/>
          <p:nvPr/>
        </p:nvSpPr>
        <p:spPr>
          <a:xfrm>
            <a:off x="1097280" y="3858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現地照片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補充，與①不相加</a:t>
            </a:r>
            <a:endParaRPr lang="en-US" sz="1400" dirty="0"/>
          </a:p>
        </p:txBody>
      </p:sp>
      <p:sp>
        <p:nvSpPr>
          <p:cNvPr id="24" name="ev2D2"/>
          <p:cNvSpPr/>
          <p:nvPr/>
        </p:nvSpPr>
        <p:spPr>
          <a:xfrm>
            <a:off x="548640" y="44622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ev2N2"/>
          <p:cNvSpPr txBox="1"/>
          <p:nvPr/>
        </p:nvSpPr>
        <p:spPr>
          <a:xfrm>
            <a:off x="54864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26" name="ev2T2"/>
          <p:cNvSpPr txBox="1"/>
          <p:nvPr/>
        </p:nvSpPr>
        <p:spPr>
          <a:xfrm>
            <a:off x="1097280" y="44256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紅邊時間序列</a:t>
            </a:r>
            <a:endParaRPr lang="en-US" sz="1400" dirty="0"/>
          </a:p>
        </p:txBody>
      </p:sp>
      <p:sp>
        <p:nvSpPr>
          <p:cNvPr id="27" name="ev2D3"/>
          <p:cNvSpPr/>
          <p:nvPr/>
        </p:nvSpPr>
        <p:spPr>
          <a:xfrm>
            <a:off x="548640" y="5029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ev2N3"/>
          <p:cNvSpPr txBox="1"/>
          <p:nvPr/>
        </p:nvSpPr>
        <p:spPr>
          <a:xfrm>
            <a:off x="54864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④</a:t>
            </a:r>
            <a:endParaRPr lang="en-US" sz="1300" dirty="0"/>
          </a:p>
        </p:txBody>
      </p:sp>
      <p:sp>
        <p:nvSpPr>
          <p:cNvPr id="29" name="ev2T3"/>
          <p:cNvSpPr txBox="1"/>
          <p:nvPr/>
        </p:nvSpPr>
        <p:spPr>
          <a:xfrm>
            <a:off x="1097280" y="4992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影像品質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雲、陰影、觀測筆數、偏移</a:t>
            </a:r>
            <a:endParaRPr lang="en-US" sz="1400" dirty="0"/>
          </a:p>
        </p:txBody>
      </p:sp>
      <p:sp>
        <p:nvSpPr>
          <p:cNvPr id="30" name="ev2D4"/>
          <p:cNvSpPr/>
          <p:nvPr/>
        </p:nvSpPr>
        <p:spPr>
          <a:xfrm>
            <a:off x="548640" y="55961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ev2N4"/>
          <p:cNvSpPr txBox="1"/>
          <p:nvPr/>
        </p:nvSpPr>
        <p:spPr>
          <a:xfrm>
            <a:off x="548640" y="5596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⑤</a:t>
            </a:r>
            <a:endParaRPr lang="en-US" sz="1300" dirty="0"/>
          </a:p>
        </p:txBody>
      </p:sp>
      <p:sp>
        <p:nvSpPr>
          <p:cNvPr id="32" name="ev2T4"/>
          <p:cNvSpPr txBox="1"/>
          <p:nvPr/>
        </p:nvSpPr>
        <p:spPr>
          <a:xfrm>
            <a:off x="1097280" y="55595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崩了會碰到什麼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道路、聚落、土石流潛勢溪流</a:t>
            </a:r>
            <a:endParaRPr lang="en-US" sz="1400" dirty="0"/>
          </a:p>
        </p:txBody>
      </p:sp>
      <p:sp>
        <p:nvSpPr>
          <p:cNvPr id="33" name="prin0"/>
          <p:cNvSpPr/>
          <p:nvPr/>
        </p:nvSpPr>
        <p:spPr>
          <a:xfrm>
            <a:off x="6035040" y="2834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rinT0"/>
          <p:cNvSpPr txBox="1"/>
          <p:nvPr/>
        </p:nvSpPr>
        <p:spPr>
          <a:xfrm>
            <a:off x="6263640" y="2880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不給總分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分數會掩蓋「為什麼」；各類證據並列，由判讀者權衡。</a:t>
            </a:r>
            <a:endParaRPr lang="en-US" sz="1600" dirty="0"/>
          </a:p>
        </p:txBody>
      </p:sp>
      <p:sp>
        <p:nvSpPr>
          <p:cNvPr id="35" name="prin1"/>
          <p:cNvSpPr/>
          <p:nvPr/>
        </p:nvSpPr>
        <p:spPr>
          <a:xfrm>
            <a:off x="6035040" y="3977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rinT1"/>
          <p:cNvSpPr txBox="1"/>
          <p:nvPr/>
        </p:nvSpPr>
        <p:spPr>
          <a:xfrm>
            <a:off x="6263640" y="4023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「資料不足」也是結果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雲、陰影、面積太小時明說看不到，不把沒資料當沒問題。</a:t>
            </a:r>
            <a:endParaRPr lang="en-US" sz="1600" dirty="0"/>
          </a:p>
        </p:txBody>
      </p:sp>
      <p:sp>
        <p:nvSpPr>
          <p:cNvPr id="37" name="prin2"/>
          <p:cNvSpPr/>
          <p:nvPr/>
        </p:nvSpPr>
        <p:spPr>
          <a:xfrm>
            <a:off x="6035040" y="5120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prinT2"/>
          <p:cNvSpPr txBox="1"/>
          <p:nvPr/>
        </p:nvSpPr>
        <p:spPr>
          <a:xfrm>
            <a:off x="6263640" y="5166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可稽核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盲判題目與結果附 SHA-256 清單；高解析影像只決定「怎麼看」，不改衛星數值。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韌性呈現：每個坡面一份履歷——壞過、在變、會碰到誰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太魯閣 0403 地震：白線＝坡面；橘線＝事件目錄的地震崩塌（官方判釋）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sN0"/>
          <p:cNvSpPr txBox="1"/>
          <p:nvPr/>
        </p:nvSpPr>
        <p:spPr>
          <a:xfrm>
            <a:off x="5257800" y="3977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229／330</a:t>
            </a:r>
            <a:endParaRPr lang="en-US" sz="2400" dirty="0"/>
          </a:p>
        </p:txBody>
      </p:sp>
      <p:sp>
        <p:nvSpPr>
          <p:cNvPr id="7" name="resD0"/>
          <p:cNvSpPr txBox="1"/>
          <p:nvPr/>
        </p:nvSpPr>
        <p:spPr>
          <a:xfrm>
            <a:off x="704088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太魯閣紅邊持續下降的坡面出現在地震當月——事件後幾週內列出先看的坡面</a:t>
            </a:r>
            <a:endParaRPr lang="en-US" sz="1300" dirty="0"/>
          </a:p>
        </p:txBody>
      </p:sp>
      <p:sp>
        <p:nvSpPr>
          <p:cNvPr id="8" name="resN1"/>
          <p:cNvSpPr txBox="1"/>
          <p:nvPr/>
        </p:nvSpPr>
        <p:spPr>
          <a:xfrm>
            <a:off x="5257800" y="4709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200／411</a:t>
            </a:r>
            <a:endParaRPr lang="en-US" sz="2400" dirty="0"/>
          </a:p>
        </p:txBody>
      </p:sp>
      <p:sp>
        <p:nvSpPr>
          <p:cNvPr id="9" name="resD1"/>
          <p:cNvSpPr txBox="1"/>
          <p:nvPr/>
        </p:nvSpPr>
        <p:spPr>
          <a:xfrm>
            <a:off x="7040880" y="4709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高雄優先坡面外推 100 m 內有道路；25 個有建物（OpenStreetMap）</a:t>
            </a:r>
            <a:endParaRPr lang="en-US" sz="1300" dirty="0"/>
          </a:p>
        </p:txBody>
      </p:sp>
      <p:sp>
        <p:nvSpPr>
          <p:cNvPr id="10" name="resN2"/>
          <p:cNvSpPr txBox="1"/>
          <p:nvPr/>
        </p:nvSpPr>
        <p:spPr>
          <a:xfrm>
            <a:off x="5257800" y="5440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67</a:t>
            </a:r>
            <a:endParaRPr lang="en-US" sz="2400" dirty="0"/>
          </a:p>
        </p:txBody>
      </p:sp>
      <p:sp>
        <p:nvSpPr>
          <p:cNvPr id="11" name="resD2"/>
          <p:cNvSpPr txBox="1"/>
          <p:nvPr/>
        </p:nvSpPr>
        <p:spPr>
          <a:xfrm>
            <a:off x="70408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個優先坡面位在土石流潛勢溪流集水區內，崩落土砂可能進入溪流（水保署）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對公部門的啟示：自動訊號只排「先看誰」，先量再用</a:t>
            </a:r>
            <a:endParaRPr lang="en-US" sz="3200" dirty="0"/>
          </a:p>
        </p:txBody>
      </p:sp>
      <p:sp>
        <p:nvSpPr>
          <p:cNvPr id="3" name="gv0"/>
          <p:cNvSpPr/>
          <p:nvPr/>
        </p:nvSpPr>
        <p:spPr>
          <a:xfrm>
            <a:off x="548640" y="12801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vN0"/>
          <p:cNvSpPr txBox="1"/>
          <p:nvPr/>
        </p:nvSpPr>
        <p:spPr>
          <a:xfrm>
            <a:off x="777240" y="1371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5" name="gvL0"/>
          <p:cNvSpPr txBox="1"/>
          <p:nvPr/>
        </p:nvSpPr>
        <p:spPr>
          <a:xfrm>
            <a:off x="777240" y="19385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大事件後抓到崩塌坡面（花蓮・太魯閣）</a:t>
            </a:r>
            <a:endParaRPr lang="en-US" sz="1400" dirty="0"/>
          </a:p>
        </p:txBody>
      </p:sp>
      <p:sp>
        <p:nvSpPr>
          <p:cNvPr id="6" name="gvC0"/>
          <p:cNvSpPr txBox="1"/>
          <p:nvPr/>
        </p:nvSpPr>
        <p:spPr>
          <a:xfrm>
            <a:off x="777240" y="2304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只列出 3%・5% 的坡面；95% CI 66–83%・38–48%</a:t>
            </a:r>
            <a:endParaRPr lang="en-US" sz="1100" dirty="0"/>
          </a:p>
        </p:txBody>
      </p:sp>
      <p:sp>
        <p:nvSpPr>
          <p:cNvPr id="7" name="gv1"/>
          <p:cNvSpPr/>
          <p:nvPr/>
        </p:nvSpPr>
        <p:spPr>
          <a:xfrm>
            <a:off x="548640" y="28803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vN1"/>
          <p:cNvSpPr txBox="1"/>
          <p:nvPr/>
        </p:nvSpPr>
        <p:spPr>
          <a:xfrm>
            <a:off x="77724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9" name="gvL1"/>
          <p:cNvSpPr txBox="1"/>
          <p:nvPr/>
        </p:nvSpPr>
        <p:spPr>
          <a:xfrm>
            <a:off x="777240" y="3538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平時零星的紅邊下降經盲判屬實</a:t>
            </a:r>
            <a:endParaRPr lang="en-US" sz="1400" dirty="0"/>
          </a:p>
        </p:txBody>
      </p:sp>
      <p:sp>
        <p:nvSpPr>
          <p:cNvPr id="10" name="gvC1"/>
          <p:cNvSpPr txBox="1"/>
          <p:nvPr/>
        </p:nvSpPr>
        <p:spPr>
          <a:xfrm>
            <a:off x="777240" y="39044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分層加權，95% CI 5–45%</a:t>
            </a:r>
            <a:endParaRPr lang="en-US" sz="1100" dirty="0"/>
          </a:p>
        </p:txBody>
      </p:sp>
      <p:sp>
        <p:nvSpPr>
          <p:cNvPr id="11" name="gv2"/>
          <p:cNvSpPr/>
          <p:nvPr/>
        </p:nvSpPr>
        <p:spPr>
          <a:xfrm>
            <a:off x="548640" y="44805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gvN2"/>
          <p:cNvSpPr txBox="1"/>
          <p:nvPr/>
        </p:nvSpPr>
        <p:spPr>
          <a:xfrm>
            <a:off x="777240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13" name="gvL2"/>
          <p:cNvSpPr txBox="1"/>
          <p:nvPr/>
        </p:nvSpPr>
        <p:spPr>
          <a:xfrm>
            <a:off x="777240" y="5138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影像目視與官方圖層「有無裸露」一致</a:t>
            </a:r>
            <a:endParaRPr lang="en-US" sz="1400" dirty="0"/>
          </a:p>
        </p:txBody>
      </p:sp>
      <p:sp>
        <p:nvSpPr>
          <p:cNvPr id="14" name="gvC2"/>
          <p:cNvSpPr txBox="1"/>
          <p:nvPr/>
        </p:nvSpPr>
        <p:spPr>
          <a:xfrm>
            <a:off x="777240" y="5504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n=29，95% CI 51–83%</a:t>
            </a:r>
            <a:endParaRPr lang="en-US" sz="1100" dirty="0"/>
          </a:p>
        </p:txBody>
      </p:sp>
      <p:sp>
        <p:nvSpPr>
          <p:cNvPr id="15" name="gpC0"/>
          <p:cNvSpPr/>
          <p:nvPr/>
        </p:nvSpPr>
        <p:spPr>
          <a:xfrm>
            <a:off x="5440680" y="14173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g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00200"/>
            <a:ext cx="411480" cy="411480"/>
          </a:xfrm>
          <a:prstGeom prst="rect">
            <a:avLst/>
          </a:prstGeom>
        </p:spPr>
      </p:pic>
      <p:sp>
        <p:nvSpPr>
          <p:cNvPr id="17" name="gpT0"/>
          <p:cNvSpPr txBox="1"/>
          <p:nvPr/>
        </p:nvSpPr>
        <p:spPr>
          <a:xfrm>
            <a:off x="640080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量過才用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大事件後可靠、平時零星變化不可靠；系統把這些限制直接寫在每個坡面頁上，只用來排序，不用來判定。</a:t>
            </a:r>
            <a:endParaRPr lang="en-US" sz="1800" dirty="0"/>
          </a:p>
        </p:txBody>
      </p:sp>
      <p:sp>
        <p:nvSpPr>
          <p:cNvPr id="18" name="gpC1"/>
          <p:cNvSpPr/>
          <p:nvPr/>
        </p:nvSpPr>
        <p:spPr>
          <a:xfrm>
            <a:off x="5440680" y="30175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g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200400"/>
            <a:ext cx="411480" cy="411480"/>
          </a:xfrm>
          <a:prstGeom prst="rect">
            <a:avLst/>
          </a:prstGeom>
        </p:spPr>
      </p:pic>
      <p:sp>
        <p:nvSpPr>
          <p:cNvPr id="20" name="gpT1"/>
          <p:cNvSpPr txBox="1"/>
          <p:nvPr/>
        </p:nvSpPr>
        <p:spPr>
          <a:xfrm>
            <a:off x="6400800" y="29260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可複製、可延展、能落地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開放資料＋開源程式，換流域只要換範圍重跑（花蓮、太魯閣已套用）；新證據可直接加一類，不必重訂總分；資料都來自水保署既有平台，產出接得上現有巡查流程。</a:t>
            </a:r>
            <a:endParaRPr lang="en-US" sz="1800" dirty="0"/>
          </a:p>
        </p:txBody>
      </p:sp>
      <p:sp>
        <p:nvSpPr>
          <p:cNvPr id="21" name="gpC2"/>
          <p:cNvSpPr/>
          <p:nvPr/>
        </p:nvSpPr>
        <p:spPr>
          <a:xfrm>
            <a:off x="5440680" y="46177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g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4800600"/>
            <a:ext cx="411480" cy="411480"/>
          </a:xfrm>
          <a:prstGeom prst="rect">
            <a:avLst/>
          </a:prstGeom>
        </p:spPr>
      </p:pic>
      <p:sp>
        <p:nvSpPr>
          <p:cNvPr id="23" name="gpT2"/>
          <p:cNvSpPr txBox="1"/>
          <p:nvPr/>
        </p:nvSpPr>
        <p:spPr>
          <a:xfrm>
            <a:off x="6400800" y="45262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資料治理的小改變，大效益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崩塌報告專區（10/28 上線）已附影像日期與完成判釋率；再附點位檔（CSV／GeoJSON），就能直接接進證據鏈、不必從 PDF 解析。UAV 照片保留拍攝座標亦同。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對全民的啟示：看得懂、查得到、一起補</a:t>
            </a:r>
            <a:endParaRPr lang="en-US" sz="3200" dirty="0"/>
          </a:p>
        </p:txBody>
      </p:sp>
      <p:pic>
        <p:nvPicPr>
          <p:cNvPr id="3" name="su3d" descr="su3d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120640" cy="4224528"/>
          </a:xfrm>
          <a:prstGeom prst="rect">
            <a:avLst/>
          </a:prstGeom>
        </p:spPr>
      </p:pic>
      <p:sp>
        <p:nvSpPr>
          <p:cNvPr id="4" name="su3dCap"/>
          <p:cNvSpPr txBox="1"/>
          <p:nvPr/>
        </p:nvSpPr>
        <p:spPr>
          <a:xfrm>
            <a:off x="548640" y="5486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坡面頁 3D 檢視：國土測繪中心航照貼在 20 m 地形上；黃線＝選取的坡面</a:t>
            </a:r>
            <a:endParaRPr lang="en-US" sz="1100" dirty="0"/>
          </a:p>
        </p:txBody>
      </p:sp>
      <p:sp>
        <p:nvSpPr>
          <p:cNvPr id="5" name="pbC0"/>
          <p:cNvSpPr/>
          <p:nvPr/>
        </p:nvSpPr>
        <p:spPr>
          <a:xfrm>
            <a:off x="6035040" y="13258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bI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90472"/>
            <a:ext cx="402336" cy="402336"/>
          </a:xfrm>
          <a:prstGeom prst="rect">
            <a:avLst/>
          </a:prstGeom>
        </p:spPr>
      </p:pic>
      <p:sp>
        <p:nvSpPr>
          <p:cNvPr id="7" name="pbT0"/>
          <p:cNvSpPr txBox="1"/>
          <p:nvPr/>
        </p:nvSpPr>
        <p:spPr>
          <a:xfrm>
            <a:off x="6949440" y="1234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透明，也誠實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不給「風險分數」，避免把不確定的訊號說成定論；看不到就說看不到，每個數字附誤差。</a:t>
            </a:r>
            <a:endParaRPr lang="en-US" sz="1800" dirty="0"/>
          </a:p>
        </p:txBody>
      </p:sp>
      <p:sp>
        <p:nvSpPr>
          <p:cNvPr id="8" name="pbC1"/>
          <p:cNvSpPr/>
          <p:nvPr/>
        </p:nvSpPr>
        <p:spPr>
          <a:xfrm>
            <a:off x="6035040" y="26974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pbI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862072"/>
            <a:ext cx="402336" cy="402336"/>
          </a:xfrm>
          <a:prstGeom prst="rect">
            <a:avLst/>
          </a:prstGeom>
        </p:spPr>
      </p:pic>
      <p:sp>
        <p:nvSpPr>
          <p:cNvPr id="10" name="pbT1"/>
          <p:cNvSpPr txBox="1"/>
          <p:nvPr/>
        </p:nvSpPr>
        <p:spPr>
          <a:xfrm>
            <a:off x="6949440" y="26060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查得到身邊的坡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每個坡面頁列出附近道路、建物、聚落與土石流潛勢溪流，可切 3D 與逐年航照。</a:t>
            </a:r>
            <a:endParaRPr lang="en-US" sz="1800" dirty="0"/>
          </a:p>
        </p:txBody>
      </p:sp>
      <p:sp>
        <p:nvSpPr>
          <p:cNvPr id="11" name="pbC2"/>
          <p:cNvSpPr/>
          <p:nvPr/>
        </p:nvSpPr>
        <p:spPr>
          <a:xfrm>
            <a:off x="6035040" y="40690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pbI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4233672"/>
            <a:ext cx="402336" cy="402336"/>
          </a:xfrm>
          <a:prstGeom prst="rect">
            <a:avLst/>
          </a:prstGeom>
        </p:spPr>
      </p:pic>
      <p:sp>
        <p:nvSpPr>
          <p:cNvPr id="13" name="pbT2"/>
          <p:cNvSpPr txBox="1"/>
          <p:nvPr/>
        </p:nvSpPr>
        <p:spPr>
          <a:xfrm>
            <a:off x="6949440" y="39776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一起補資料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山區建物與產業道路在 OpenStreetMap 常缺漏，志工補上的每一筆都讓「會碰到誰」更完整；程式全部開源。</a:t>
            </a:r>
            <a:endParaRPr lang="en-US" sz="1800" dirty="0"/>
          </a:p>
        </p:txBody>
      </p:sp>
      <p:sp>
        <p:nvSpPr>
          <p:cNvPr id="14" name="closing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losingT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機器幫忙決定先看誰・證據鏈告訴你為什麼・最後由人決定要不要去　</a:t>
            </a:r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rhynowu-ardswc-resilience-observatory.hf.space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備用｜驗證細節：訊號只能「請人看」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坡面所在的土石流潛勢溪流集水區與影響範圍（水保署）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土砂量、河道、堰塞、下游的動態串接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11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2.0%（95/4,858）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2.2%（64/2,905）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2.1%（9/431）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0.0%（0/425）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1.9%（242/12,699）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2026-10-29T22:48:38Z</dcterms:created>
  <dcterms:modified xsi:type="dcterms:W3CDTF">2026-10-29T22:48:38Z</dcterms:modified>
</cp:coreProperties>
</file>