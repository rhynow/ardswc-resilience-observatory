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02bcede3-d685-152f-1953-13d85d39da5e}">
          <p14:sldIdLst>
            <p14:sldId id="256"/>
          </p14:sldIdLst>
        </p14:section>
        <p14:section name="問題" id="{48db32ec-df4f-d6b1-2d83-b3e04afecb37}">
          <p14:sldIdLst>
            <p14:sldId id="257"/>
          </p14:sldIdLst>
        </p14:section>
        <p14:section name="技術亮點" id="{8211929b-b769-a2c1-e733-af5ce7a0c8c0}">
          <p14:sldIdLst>
            <p14:sldId id="258"/>
          </p14:sldIdLst>
        </p14:section>
        <p14:section name="架構創新" id="{dd697594-6133-375c-d96b-08631b45be92}">
          <p14:sldIdLst>
            <p14:sldId id="259"/>
          </p14:sldIdLst>
        </p14:section>
        <p14:section name="韌性呈現" id="{06b44287-e12d-ebaf-b566-f43f221da81c}">
          <p14:sldIdLst>
            <p14:sldId id="260"/>
          </p14:sldIdLst>
        </p14:section>
        <p14:section name="啟示" id="{e440c880-e3a9-c93b-e36f-ae73e65e28cf}">
          <p14:sldIdLst>
            <p14:sldId id="261"/>
            <p14:sldId id="262"/>
          </p14:sldIdLst>
        </p14:section>
        <p14:section name="備用" id="{1df07750-871d-5541-e2d0-2471ecfdf6de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B22"/>
                </a:solidFill>
                <a:latin typeface="+mn-lt"/>
              </a:rPr>
              <a:t>太魯閣：崩塌占坡面越大越抓得到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此坡面 NDRE：地震後 0.53 → 0.20，之後沒有回來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技術亮點有三個。第一，以坡面為單位：依輔導委員建議用集水區重疊法切出 1 萬 3 千個坡面，每個都是完整區塊。第二，用免費的 Sentinel-2 紅邊時間序列，在花蓮、太魯閣大事件後抓到 75% 和 43% 的崩塌坡面，沒有事件的坡面誤報約 2%；中間這張圖顯示，崩塌占坡面越大越抓得到。第三，水保署歷史影像平台上的 UAV 照片沒有 GPS，我們用特徵匹配和 20 m 地形自動對位，目前 35 組，包括 10 月 15 日剛上傳的六龜寶來。重點是：每個數字我們都量過準確度。（約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上，資料全部是開放資料，切成坡面單元後，每個坡面掛五類證據：事件目錄是主骨架，照片是補充，衛星只回答最近還有沒有變化，再加上影像品質提醒，以及崩了會碰到什麼——道路、聚落和土石流潛勢溪流。我們刻意不給總分，因為分數會掩蓋為什麼；看不到就標資料不足；驗證紀錄可以稽核。最後只給三種候選層級，由人決定要不要去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韌性呈現在於每個坡面都有一份履歷。左邊是太魯閣一個坡面：橘線是官方圈出的地震崩塌，地震後紅邊指標從 0.53 掉到 0.20，之後沒有回來，全區只是正常季節起伏。太魯閣 330 個持續下降的坡面中，229 個出現在地震當月，大事件後幾週內就能列出要先看的坡面。履歷也回答崩了會碰到誰：高雄 411 個優先坡面中，200 個附近有道路，67 個位在土石流潛勢溪流集水區。（約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對公部門的啟示：我們量了準確度。大事件後，花蓮 75%、太魯閣 43% 的崩塌坡面被抓到；但平時零星的紅邊下降，經分層盲判只有約 25% 屬實；連人看影像和官方圖層的一致率也只有 69%。所以自動訊號只能排先看誰，不能拿來判定，導入前一定要先量。這套流程全用開放資料、可以搬到其他流域；而 UAV 照片上傳時保留座標、事件目錄附判釋日期，這種小改變就能省下大量事後工作。（約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最後，對全民的啟示：坡地資訊要看得懂、查得到、也能一起補。我們不給風險分數，看不到就說看不到；每個坡面頁列出附近的道路、建物和土石流潛勢溪流，還能用 3D 和逐年航照看；山區建物在 OpenStreetMap 常缺漏，志工補上的每一筆都有用，程式全部開源。我們不是重新發明崩塌判釋，而是把既有證據整理成可追蹤的坡面履歷：機器幫忙決定先看誰，證據鏈告訴你為什麼，最後由人決定要不要去。謝謝。（約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（備用，評審問到系統藍圖或下一步時再翻。）專家提出的崩塌智慧防災平台有六個模組。我們目前做到的是平時篩查：坡地底圖、多源監測和 AI 輔助判釋都有一部分，其中道路與建物暴露是用 OpenStreetMap 疊合，回答坡面崩了會碰到什麼，但不改候選層級。地質目前只拿到影像圖磚，五萬分之一的斷層、位態、順向坡要取得向量後才能分析。下游影響目前只列出坡面所在的土石流潛勢溪流集水區與影響範圍；降雨觸發、土砂與河道的動態串接和應變工作流還沒做，這是從平時篩查走向事件反應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（備用，評審問到地質時再翻。）我們用 BigGIS 引用的公開地層圖，疊上 2021 到 2024 年的年度崩塌圖層，以坡度 15 度以上的有效坡面當分母，算每個地層的崩塌密度。全區約 5.3%；始新世的西村層，也就是板岩，8.1%，是平均的 1.5 倍；上新世的錦水頁岩只有 1.7%。紅邊下降的比例在幾個主要地層都約 2%，差異不大。限制是這份地層圖比例尺小，沒有斷層和位態，只能做描述性統計；斷層距離和順向坡要取得五萬分之一的向量才能分析。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技術亮點：免費衛星＋開放資料，每個數字都量過</a:t>
            </a:r>
            <a:endParaRPr lang="en-US" sz="3200" dirty="0"/>
          </a:p>
        </p:txBody>
      </p:sp>
      <p:sp>
        <p:nvSpPr>
          <p:cNvPr id="3" name="techBg0"/>
          <p:cNvSpPr/>
          <p:nvPr/>
        </p:nvSpPr>
        <p:spPr>
          <a:xfrm>
            <a:off x="54864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techImg0" descr="v2_on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3291840" cy="2514600"/>
          </a:xfrm>
          <a:prstGeom prst="rect">
            <a:avLst/>
          </a:prstGeom>
        </p:spPr>
      </p:pic>
      <p:sp>
        <p:nvSpPr>
          <p:cNvPr id="5" name="techN0"/>
          <p:cNvSpPr txBox="1"/>
          <p:nvPr/>
        </p:nvSpPr>
        <p:spPr>
          <a:xfrm>
            <a:off x="77724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13,175</a:t>
            </a:r>
            <a:endParaRPr lang="en-US" sz="3200" dirty="0"/>
          </a:p>
        </p:txBody>
      </p:sp>
      <p:sp>
        <p:nvSpPr>
          <p:cNvPr id="6" name="techH0"/>
          <p:cNvSpPr txBox="1"/>
          <p:nvPr/>
        </p:nvSpPr>
        <p:spPr>
          <a:xfrm>
            <a:off x="77724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個坡面單元，不是網格</a:t>
            </a:r>
            <a:endParaRPr lang="en-US" sz="1600" dirty="0"/>
          </a:p>
        </p:txBody>
      </p:sp>
      <p:sp>
        <p:nvSpPr>
          <p:cNvPr id="7" name="techD0"/>
          <p:cNvSpPr txBox="1"/>
          <p:nvPr/>
        </p:nvSpPr>
        <p:spPr>
          <a:xfrm>
            <a:off x="77724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集水區重疊法切分；12,730 個有 ≥15° 有效坡面。舊版 85% 不連續 → 0%</a:t>
            </a:r>
            <a:endParaRPr lang="en-US" sz="1300" dirty="0"/>
          </a:p>
        </p:txBody>
      </p:sp>
      <p:sp>
        <p:nvSpPr>
          <p:cNvPr id="8" name="techBg1"/>
          <p:cNvSpPr/>
          <p:nvPr/>
        </p:nvSpPr>
        <p:spPr>
          <a:xfrm>
            <a:off x="429768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chN1"/>
          <p:cNvSpPr txBox="1"/>
          <p:nvPr/>
        </p:nvSpPr>
        <p:spPr>
          <a:xfrm>
            <a:off x="452628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75%・43%</a:t>
            </a:r>
            <a:endParaRPr lang="en-US" sz="3200" dirty="0"/>
          </a:p>
        </p:txBody>
      </p:sp>
      <p:sp>
        <p:nvSpPr>
          <p:cNvPr id="10" name="techH1"/>
          <p:cNvSpPr txBox="1"/>
          <p:nvPr/>
        </p:nvSpPr>
        <p:spPr>
          <a:xfrm>
            <a:off x="452628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大事件後抓到崩塌坡面</a:t>
            </a:r>
            <a:endParaRPr lang="en-US" sz="1600" dirty="0"/>
          </a:p>
        </p:txBody>
      </p:sp>
      <p:sp>
        <p:nvSpPr>
          <p:cNvPr id="11" name="techD1"/>
          <p:cNvSpPr txBox="1"/>
          <p:nvPr/>
        </p:nvSpPr>
        <p:spPr>
          <a:xfrm>
            <a:off x="452628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Sentinel-2 紅邊時間序列（花蓮・太魯閣）；沒事件的坡面誤報約 2%</a:t>
            </a:r>
            <a:endParaRPr lang="en-US" sz="1300" dirty="0"/>
          </a:p>
        </p:txBody>
      </p:sp>
      <p:sp>
        <p:nvSpPr>
          <p:cNvPr id="12" name="techBg2"/>
          <p:cNvSpPr/>
          <p:nvPr/>
        </p:nvSpPr>
        <p:spPr>
          <a:xfrm>
            <a:off x="804672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techImg2" descr="uav_baolai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83880" y="1371600"/>
            <a:ext cx="3291840" cy="2514600"/>
          </a:xfrm>
          <a:prstGeom prst="rect">
            <a:avLst/>
          </a:prstGeom>
        </p:spPr>
      </p:pic>
      <p:sp>
        <p:nvSpPr>
          <p:cNvPr id="14" name="techN2"/>
          <p:cNvSpPr txBox="1"/>
          <p:nvPr/>
        </p:nvSpPr>
        <p:spPr>
          <a:xfrm>
            <a:off x="827532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35</a:t>
            </a:r>
            <a:endParaRPr lang="en-US" sz="3200" dirty="0"/>
          </a:p>
        </p:txBody>
      </p:sp>
      <p:sp>
        <p:nvSpPr>
          <p:cNvPr id="15" name="techH2"/>
          <p:cNvSpPr txBox="1"/>
          <p:nvPr/>
        </p:nvSpPr>
        <p:spPr>
          <a:xfrm>
            <a:off x="827532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組沒有 GPS 的 UAV 照片自動對位</a:t>
            </a:r>
            <a:endParaRPr lang="en-US" sz="1600" dirty="0"/>
          </a:p>
        </p:txBody>
      </p:sp>
      <p:sp>
        <p:nvSpPr>
          <p:cNvPr id="16" name="techD2"/>
          <p:cNvSpPr txBox="1"/>
          <p:nvPr/>
        </p:nvSpPr>
        <p:spPr>
          <a:xfrm>
            <a:off x="827532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LoFTR 特徵匹配＋20 m DTM，貼回地形；含 2026-10-15 六龜寶來</a:t>
            </a:r>
            <a:endParaRPr lang="en-US" sz="1300" dirty="0"/>
          </a:p>
        </p:txBody>
      </p:sp>
      <p:graphicFrame>
        <p:nvGraphicFramePr>
          <p:cNvPr id="17" name="techChart" descr=""/>
          <p:cNvGraphicFramePr/>
          <p:nvPr/>
        </p:nvGraphicFramePr>
        <p:xfrm>
          <a:off x="4434840" y="1371600"/>
          <a:ext cx="32918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架構創新：證據鏈分開呈現，不給總分，最後由人決定</a:t>
            </a:r>
            <a:endParaRPr lang="en-US" sz="3200" dirty="0"/>
          </a:p>
        </p:txBody>
      </p:sp>
      <p:sp>
        <p:nvSpPr>
          <p:cNvPr id="3" name="flw0"/>
          <p:cNvSpPr/>
          <p:nvPr/>
        </p:nvSpPr>
        <p:spPr>
          <a:xfrm>
            <a:off x="548640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wT0"/>
          <p:cNvSpPr txBox="1"/>
          <p:nvPr/>
        </p:nvSpPr>
        <p:spPr>
          <a:xfrm>
            <a:off x="685800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開放資料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事件目錄・年度圖層・照片・Sentinel-2・DEM・OSM</a:t>
            </a:r>
            <a:endParaRPr lang="en-US" sz="1700" dirty="0"/>
          </a:p>
        </p:txBody>
      </p:sp>
      <p:sp>
        <p:nvSpPr>
          <p:cNvPr id="5" name="flwA0"/>
          <p:cNvSpPr txBox="1"/>
          <p:nvPr/>
        </p:nvSpPr>
        <p:spPr>
          <a:xfrm>
            <a:off x="2596896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6" name="flw1"/>
          <p:cNvSpPr/>
          <p:nvPr/>
        </p:nvSpPr>
        <p:spPr>
          <a:xfrm>
            <a:off x="2807208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wT1"/>
          <p:cNvSpPr txBox="1"/>
          <p:nvPr/>
        </p:nvSpPr>
        <p:spPr>
          <a:xfrm>
            <a:off x="2944368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坡面單元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SUv2，版本化 ID</a:t>
            </a:r>
            <a:endParaRPr lang="en-US" sz="1700" dirty="0"/>
          </a:p>
        </p:txBody>
      </p:sp>
      <p:sp>
        <p:nvSpPr>
          <p:cNvPr id="8" name="flwA1"/>
          <p:cNvSpPr txBox="1"/>
          <p:nvPr/>
        </p:nvSpPr>
        <p:spPr>
          <a:xfrm>
            <a:off x="4855464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flw2"/>
          <p:cNvSpPr/>
          <p:nvPr/>
        </p:nvSpPr>
        <p:spPr>
          <a:xfrm>
            <a:off x="5065776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wT2"/>
          <p:cNvSpPr txBox="1"/>
          <p:nvPr/>
        </p:nvSpPr>
        <p:spPr>
          <a:xfrm>
            <a:off x="5202936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證據鏈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五類證據，各附限制</a:t>
            </a:r>
            <a:endParaRPr lang="en-US" sz="1700" dirty="0"/>
          </a:p>
        </p:txBody>
      </p:sp>
      <p:sp>
        <p:nvSpPr>
          <p:cNvPr id="11" name="flwA2"/>
          <p:cNvSpPr txBox="1"/>
          <p:nvPr/>
        </p:nvSpPr>
        <p:spPr>
          <a:xfrm>
            <a:off x="7114032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flw3"/>
          <p:cNvSpPr/>
          <p:nvPr/>
        </p:nvSpPr>
        <p:spPr>
          <a:xfrm>
            <a:off x="7324344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wT3"/>
          <p:cNvSpPr txBox="1"/>
          <p:nvPr/>
        </p:nvSpPr>
        <p:spPr>
          <a:xfrm>
            <a:off x="7461504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三種候選層級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優先・一般・資料不足</a:t>
            </a:r>
            <a:endParaRPr lang="en-US" sz="1700" dirty="0"/>
          </a:p>
        </p:txBody>
      </p:sp>
      <p:sp>
        <p:nvSpPr>
          <p:cNvPr id="14" name="flwA3"/>
          <p:cNvSpPr txBox="1"/>
          <p:nvPr/>
        </p:nvSpPr>
        <p:spPr>
          <a:xfrm>
            <a:off x="9372600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flw4"/>
          <p:cNvSpPr/>
          <p:nvPr/>
        </p:nvSpPr>
        <p:spPr>
          <a:xfrm>
            <a:off x="9582912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wT4"/>
          <p:cNvSpPr txBox="1"/>
          <p:nvPr/>
        </p:nvSpPr>
        <p:spPr>
          <a:xfrm>
            <a:off x="9720072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人決定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要不要現勘；結果回饋規則</a:t>
            </a:r>
            <a:endParaRPr lang="en-US" sz="1700" dirty="0"/>
          </a:p>
        </p:txBody>
      </p:sp>
      <p:sp>
        <p:nvSpPr>
          <p:cNvPr id="17" name="evLead"/>
          <p:cNvSpPr txBox="1"/>
          <p:nvPr/>
        </p:nvSpPr>
        <p:spPr>
          <a:xfrm>
            <a:off x="54864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每個坡面的五類證據</a:t>
            </a:r>
            <a:endParaRPr lang="en-US" sz="1500" dirty="0"/>
          </a:p>
        </p:txBody>
      </p:sp>
      <p:sp>
        <p:nvSpPr>
          <p:cNvPr id="18" name="ev2D0"/>
          <p:cNvSpPr/>
          <p:nvPr/>
        </p:nvSpPr>
        <p:spPr>
          <a:xfrm>
            <a:off x="548640" y="33284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ev2N0"/>
          <p:cNvSpPr txBox="1"/>
          <p:nvPr/>
        </p:nvSpPr>
        <p:spPr>
          <a:xfrm>
            <a:off x="5486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20" name="ev2T0"/>
          <p:cNvSpPr txBox="1"/>
          <p:nvPr/>
        </p:nvSpPr>
        <p:spPr>
          <a:xfrm>
            <a:off x="109728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事件目錄與年度圖層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</a:t>
            </a:r>
            <a:endParaRPr lang="en-US" sz="1400" dirty="0"/>
          </a:p>
        </p:txBody>
      </p:sp>
      <p:sp>
        <p:nvSpPr>
          <p:cNvPr id="21" name="ev2D1"/>
          <p:cNvSpPr/>
          <p:nvPr/>
        </p:nvSpPr>
        <p:spPr>
          <a:xfrm>
            <a:off x="548640" y="389534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ev2N1"/>
          <p:cNvSpPr txBox="1"/>
          <p:nvPr/>
        </p:nvSpPr>
        <p:spPr>
          <a:xfrm>
            <a:off x="54864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23" name="ev2T1"/>
          <p:cNvSpPr txBox="1"/>
          <p:nvPr/>
        </p:nvSpPr>
        <p:spPr>
          <a:xfrm>
            <a:off x="1097280" y="3858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現地照片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補充，與①不相加</a:t>
            </a:r>
            <a:endParaRPr lang="en-US" sz="1400" dirty="0"/>
          </a:p>
        </p:txBody>
      </p:sp>
      <p:sp>
        <p:nvSpPr>
          <p:cNvPr id="24" name="ev2D2"/>
          <p:cNvSpPr/>
          <p:nvPr/>
        </p:nvSpPr>
        <p:spPr>
          <a:xfrm>
            <a:off x="548640" y="44622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ev2N2"/>
          <p:cNvSpPr txBox="1"/>
          <p:nvPr/>
        </p:nvSpPr>
        <p:spPr>
          <a:xfrm>
            <a:off x="54864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26" name="ev2T2"/>
          <p:cNvSpPr txBox="1"/>
          <p:nvPr/>
        </p:nvSpPr>
        <p:spPr>
          <a:xfrm>
            <a:off x="1097280" y="442569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紅邊時間序列</a:t>
            </a:r>
            <a:endParaRPr lang="en-US" sz="1400" dirty="0"/>
          </a:p>
        </p:txBody>
      </p:sp>
      <p:sp>
        <p:nvSpPr>
          <p:cNvPr id="27" name="ev2D3"/>
          <p:cNvSpPr/>
          <p:nvPr/>
        </p:nvSpPr>
        <p:spPr>
          <a:xfrm>
            <a:off x="548640" y="50292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ev2N3"/>
          <p:cNvSpPr txBox="1"/>
          <p:nvPr/>
        </p:nvSpPr>
        <p:spPr>
          <a:xfrm>
            <a:off x="54864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④</a:t>
            </a:r>
            <a:endParaRPr lang="en-US" sz="1300" dirty="0"/>
          </a:p>
        </p:txBody>
      </p:sp>
      <p:sp>
        <p:nvSpPr>
          <p:cNvPr id="29" name="ev2T3"/>
          <p:cNvSpPr txBox="1"/>
          <p:nvPr/>
        </p:nvSpPr>
        <p:spPr>
          <a:xfrm>
            <a:off x="1097280" y="4992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影像品質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雲、陰影、觀測筆數、偏移</a:t>
            </a:r>
            <a:endParaRPr lang="en-US" sz="1400" dirty="0"/>
          </a:p>
        </p:txBody>
      </p:sp>
      <p:sp>
        <p:nvSpPr>
          <p:cNvPr id="30" name="ev2D4"/>
          <p:cNvSpPr/>
          <p:nvPr/>
        </p:nvSpPr>
        <p:spPr>
          <a:xfrm>
            <a:off x="548640" y="55961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ev2N4"/>
          <p:cNvSpPr txBox="1"/>
          <p:nvPr/>
        </p:nvSpPr>
        <p:spPr>
          <a:xfrm>
            <a:off x="548640" y="5596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⑤</a:t>
            </a:r>
            <a:endParaRPr lang="en-US" sz="1300" dirty="0"/>
          </a:p>
        </p:txBody>
      </p:sp>
      <p:sp>
        <p:nvSpPr>
          <p:cNvPr id="32" name="ev2T4"/>
          <p:cNvSpPr txBox="1"/>
          <p:nvPr/>
        </p:nvSpPr>
        <p:spPr>
          <a:xfrm>
            <a:off x="1097280" y="55595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崩了會碰到什麼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道路、聚落、土石流潛勢溪流</a:t>
            </a:r>
            <a:endParaRPr lang="en-US" sz="1400" dirty="0"/>
          </a:p>
        </p:txBody>
      </p:sp>
      <p:sp>
        <p:nvSpPr>
          <p:cNvPr id="33" name="prin0"/>
          <p:cNvSpPr/>
          <p:nvPr/>
        </p:nvSpPr>
        <p:spPr>
          <a:xfrm>
            <a:off x="6035040" y="2834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rinT0"/>
          <p:cNvSpPr txBox="1"/>
          <p:nvPr/>
        </p:nvSpPr>
        <p:spPr>
          <a:xfrm>
            <a:off x="6263640" y="2880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不給總分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分數會掩蓋「為什麼」；各類證據並列，由判讀者權衡。</a:t>
            </a:r>
            <a:endParaRPr lang="en-US" sz="1600" dirty="0"/>
          </a:p>
        </p:txBody>
      </p:sp>
      <p:sp>
        <p:nvSpPr>
          <p:cNvPr id="35" name="prin1"/>
          <p:cNvSpPr/>
          <p:nvPr/>
        </p:nvSpPr>
        <p:spPr>
          <a:xfrm>
            <a:off x="6035040" y="3977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rinT1"/>
          <p:cNvSpPr txBox="1"/>
          <p:nvPr/>
        </p:nvSpPr>
        <p:spPr>
          <a:xfrm>
            <a:off x="6263640" y="4023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「資料不足」也是結果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雲、陰影、面積太小時明說看不到，不把沒資料當沒問題。</a:t>
            </a:r>
            <a:endParaRPr lang="en-US" sz="1600" dirty="0"/>
          </a:p>
        </p:txBody>
      </p:sp>
      <p:sp>
        <p:nvSpPr>
          <p:cNvPr id="37" name="prin2"/>
          <p:cNvSpPr/>
          <p:nvPr/>
        </p:nvSpPr>
        <p:spPr>
          <a:xfrm>
            <a:off x="6035040" y="5120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prinT2"/>
          <p:cNvSpPr txBox="1"/>
          <p:nvPr/>
        </p:nvSpPr>
        <p:spPr>
          <a:xfrm>
            <a:off x="6263640" y="5166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可稽核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盲判題目與結果附 SHA-256 清單；高解析影像只決定「怎麼看」，不改衛星數值。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韌性呈現：每個坡面一份履歷——壞過、在變、會碰到誰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太魯閣 0403 地震：白線＝坡面；橘線＝事件目錄的地震崩塌（官方判釋）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sN0"/>
          <p:cNvSpPr txBox="1"/>
          <p:nvPr/>
        </p:nvSpPr>
        <p:spPr>
          <a:xfrm>
            <a:off x="5257800" y="3977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229／330</a:t>
            </a:r>
            <a:endParaRPr lang="en-US" sz="2400" dirty="0"/>
          </a:p>
        </p:txBody>
      </p:sp>
      <p:sp>
        <p:nvSpPr>
          <p:cNvPr id="7" name="resD0"/>
          <p:cNvSpPr txBox="1"/>
          <p:nvPr/>
        </p:nvSpPr>
        <p:spPr>
          <a:xfrm>
            <a:off x="7040880" y="3977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太魯閣紅邊持續下降的坡面出現在地震當月——事件後幾週內列出先看的坡面</a:t>
            </a:r>
            <a:endParaRPr lang="en-US" sz="1300" dirty="0"/>
          </a:p>
        </p:txBody>
      </p:sp>
      <p:sp>
        <p:nvSpPr>
          <p:cNvPr id="8" name="resN1"/>
          <p:cNvSpPr txBox="1"/>
          <p:nvPr/>
        </p:nvSpPr>
        <p:spPr>
          <a:xfrm>
            <a:off x="5257800" y="4709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200／411</a:t>
            </a:r>
            <a:endParaRPr lang="en-US" sz="2400" dirty="0"/>
          </a:p>
        </p:txBody>
      </p:sp>
      <p:sp>
        <p:nvSpPr>
          <p:cNvPr id="9" name="resD1"/>
          <p:cNvSpPr txBox="1"/>
          <p:nvPr/>
        </p:nvSpPr>
        <p:spPr>
          <a:xfrm>
            <a:off x="7040880" y="4709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高雄優先坡面外推 100 m 內有道路；25 個有建物（OpenStreetMap）</a:t>
            </a:r>
            <a:endParaRPr lang="en-US" sz="1300" dirty="0"/>
          </a:p>
        </p:txBody>
      </p:sp>
      <p:sp>
        <p:nvSpPr>
          <p:cNvPr id="10" name="resN2"/>
          <p:cNvSpPr txBox="1"/>
          <p:nvPr/>
        </p:nvSpPr>
        <p:spPr>
          <a:xfrm>
            <a:off x="5257800" y="54406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67</a:t>
            </a:r>
            <a:endParaRPr lang="en-US" sz="2400" dirty="0"/>
          </a:p>
        </p:txBody>
      </p:sp>
      <p:sp>
        <p:nvSpPr>
          <p:cNvPr id="11" name="resD2"/>
          <p:cNvSpPr txBox="1"/>
          <p:nvPr/>
        </p:nvSpPr>
        <p:spPr>
          <a:xfrm>
            <a:off x="704088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個優先坡面位在土石流潛勢溪流集水區內，崩落土砂可能進入溪流（水保署）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對公部門的啟示：自動訊號只排「先看誰」，先量再用</a:t>
            </a:r>
            <a:endParaRPr lang="en-US" sz="3200" dirty="0"/>
          </a:p>
        </p:txBody>
      </p:sp>
      <p:sp>
        <p:nvSpPr>
          <p:cNvPr id="3" name="gv0"/>
          <p:cNvSpPr/>
          <p:nvPr/>
        </p:nvSpPr>
        <p:spPr>
          <a:xfrm>
            <a:off x="548640" y="12801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gvN0"/>
          <p:cNvSpPr txBox="1"/>
          <p:nvPr/>
        </p:nvSpPr>
        <p:spPr>
          <a:xfrm>
            <a:off x="777240" y="1371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5" name="gvL0"/>
          <p:cNvSpPr txBox="1"/>
          <p:nvPr/>
        </p:nvSpPr>
        <p:spPr>
          <a:xfrm>
            <a:off x="777240" y="19385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大事件後抓到崩塌坡面（花蓮・太魯閣）</a:t>
            </a:r>
            <a:endParaRPr lang="en-US" sz="1400" dirty="0"/>
          </a:p>
        </p:txBody>
      </p:sp>
      <p:sp>
        <p:nvSpPr>
          <p:cNvPr id="6" name="gvC0"/>
          <p:cNvSpPr txBox="1"/>
          <p:nvPr/>
        </p:nvSpPr>
        <p:spPr>
          <a:xfrm>
            <a:off x="777240" y="2304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66–83%・38–48%；誤報約 2%</a:t>
            </a:r>
            <a:endParaRPr lang="en-US" sz="1100" dirty="0"/>
          </a:p>
        </p:txBody>
      </p:sp>
      <p:sp>
        <p:nvSpPr>
          <p:cNvPr id="7" name="gv1"/>
          <p:cNvSpPr/>
          <p:nvPr/>
        </p:nvSpPr>
        <p:spPr>
          <a:xfrm>
            <a:off x="548640" y="28803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vN1"/>
          <p:cNvSpPr txBox="1"/>
          <p:nvPr/>
        </p:nvSpPr>
        <p:spPr>
          <a:xfrm>
            <a:off x="77724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9" name="gvL1"/>
          <p:cNvSpPr txBox="1"/>
          <p:nvPr/>
        </p:nvSpPr>
        <p:spPr>
          <a:xfrm>
            <a:off x="777240" y="3538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平時零星的紅邊下降經盲判屬實</a:t>
            </a:r>
            <a:endParaRPr lang="en-US" sz="1400" dirty="0"/>
          </a:p>
        </p:txBody>
      </p:sp>
      <p:sp>
        <p:nvSpPr>
          <p:cNvPr id="10" name="gvC1"/>
          <p:cNvSpPr txBox="1"/>
          <p:nvPr/>
        </p:nvSpPr>
        <p:spPr>
          <a:xfrm>
            <a:off x="777240" y="39044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分層加權，95% CI 5–45%</a:t>
            </a:r>
            <a:endParaRPr lang="en-US" sz="1100" dirty="0"/>
          </a:p>
        </p:txBody>
      </p:sp>
      <p:sp>
        <p:nvSpPr>
          <p:cNvPr id="11" name="gv2"/>
          <p:cNvSpPr/>
          <p:nvPr/>
        </p:nvSpPr>
        <p:spPr>
          <a:xfrm>
            <a:off x="548640" y="44805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gvN2"/>
          <p:cNvSpPr txBox="1"/>
          <p:nvPr/>
        </p:nvSpPr>
        <p:spPr>
          <a:xfrm>
            <a:off x="777240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13" name="gvL2"/>
          <p:cNvSpPr txBox="1"/>
          <p:nvPr/>
        </p:nvSpPr>
        <p:spPr>
          <a:xfrm>
            <a:off x="777240" y="5138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影像目視與官方圖層「有無裸露」一致</a:t>
            </a:r>
            <a:endParaRPr lang="en-US" sz="1400" dirty="0"/>
          </a:p>
        </p:txBody>
      </p:sp>
      <p:sp>
        <p:nvSpPr>
          <p:cNvPr id="14" name="gvC2"/>
          <p:cNvSpPr txBox="1"/>
          <p:nvPr/>
        </p:nvSpPr>
        <p:spPr>
          <a:xfrm>
            <a:off x="777240" y="5504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n=29，95% CI 51–83%</a:t>
            </a:r>
            <a:endParaRPr lang="en-US" sz="1100" dirty="0"/>
          </a:p>
        </p:txBody>
      </p:sp>
      <p:sp>
        <p:nvSpPr>
          <p:cNvPr id="15" name="gpC0"/>
          <p:cNvSpPr/>
          <p:nvPr/>
        </p:nvSpPr>
        <p:spPr>
          <a:xfrm>
            <a:off x="5440680" y="14173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g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00200"/>
            <a:ext cx="411480" cy="411480"/>
          </a:xfrm>
          <a:prstGeom prst="rect">
            <a:avLst/>
          </a:prstGeom>
        </p:spPr>
      </p:pic>
      <p:sp>
        <p:nvSpPr>
          <p:cNvPr id="17" name="gpT0"/>
          <p:cNvSpPr txBox="1"/>
          <p:nvPr/>
        </p:nvSpPr>
        <p:spPr>
          <a:xfrm>
            <a:off x="6400800" y="1325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量過才用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大事件後可靠、平時零星變化不可靠；系統把這些限制直接寫在每個坡面頁上，只用來排序，不用來判定。</a:t>
            </a:r>
            <a:endParaRPr lang="en-US" sz="1800" dirty="0"/>
          </a:p>
        </p:txBody>
      </p:sp>
      <p:sp>
        <p:nvSpPr>
          <p:cNvPr id="18" name="gpC1"/>
          <p:cNvSpPr/>
          <p:nvPr/>
        </p:nvSpPr>
        <p:spPr>
          <a:xfrm>
            <a:off x="5440680" y="30175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g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200400"/>
            <a:ext cx="411480" cy="411480"/>
          </a:xfrm>
          <a:prstGeom prst="rect">
            <a:avLst/>
          </a:prstGeom>
        </p:spPr>
      </p:pic>
      <p:sp>
        <p:nvSpPr>
          <p:cNvPr id="20" name="gpT1"/>
          <p:cNvSpPr txBox="1"/>
          <p:nvPr/>
        </p:nvSpPr>
        <p:spPr>
          <a:xfrm>
            <a:off x="6400800" y="29260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可複製、成本低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全部開放資料與開源程式；換一個流域只要換範圍重跑，Sentinel-2 免費，一個 POC 約 1–2 小時計算。</a:t>
            </a:r>
            <a:endParaRPr lang="en-US" sz="1800" dirty="0"/>
          </a:p>
        </p:txBody>
      </p:sp>
      <p:sp>
        <p:nvSpPr>
          <p:cNvPr id="21" name="gpC2"/>
          <p:cNvSpPr/>
          <p:nvPr/>
        </p:nvSpPr>
        <p:spPr>
          <a:xfrm>
            <a:off x="5440680" y="46177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g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4800600"/>
            <a:ext cx="411480" cy="411480"/>
          </a:xfrm>
          <a:prstGeom prst="rect">
            <a:avLst/>
          </a:prstGeom>
        </p:spPr>
      </p:pic>
      <p:sp>
        <p:nvSpPr>
          <p:cNvPr id="23" name="gpT2"/>
          <p:cNvSpPr txBox="1"/>
          <p:nvPr/>
        </p:nvSpPr>
        <p:spPr>
          <a:xfrm>
            <a:off x="6400800" y="45262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資料治理的小改變，大效益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UAV 照片上傳時保留拍攝座標與時間（EXIF）、事件目錄附判釋日期，就能省下大量事後對位與比對。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對全民的啟示：看得懂、查得到、一起補</a:t>
            </a:r>
            <a:endParaRPr lang="en-US" sz="3200" dirty="0"/>
          </a:p>
        </p:txBody>
      </p:sp>
      <p:pic>
        <p:nvPicPr>
          <p:cNvPr id="3" name="su3d" descr="su3d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120640" cy="4224528"/>
          </a:xfrm>
          <a:prstGeom prst="rect">
            <a:avLst/>
          </a:prstGeom>
        </p:spPr>
      </p:pic>
      <p:sp>
        <p:nvSpPr>
          <p:cNvPr id="4" name="su3dCap"/>
          <p:cNvSpPr txBox="1"/>
          <p:nvPr/>
        </p:nvSpPr>
        <p:spPr>
          <a:xfrm>
            <a:off x="548640" y="5486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坡面頁 3D 檢視：國土測繪中心航照貼在 20 m 地形上；黃線＝選取的坡面</a:t>
            </a:r>
            <a:endParaRPr lang="en-US" sz="1100" dirty="0"/>
          </a:p>
        </p:txBody>
      </p:sp>
      <p:sp>
        <p:nvSpPr>
          <p:cNvPr id="5" name="pbC0"/>
          <p:cNvSpPr/>
          <p:nvPr/>
        </p:nvSpPr>
        <p:spPr>
          <a:xfrm>
            <a:off x="6035040" y="13258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bI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90472"/>
            <a:ext cx="402336" cy="402336"/>
          </a:xfrm>
          <a:prstGeom prst="rect">
            <a:avLst/>
          </a:prstGeom>
        </p:spPr>
      </p:pic>
      <p:sp>
        <p:nvSpPr>
          <p:cNvPr id="7" name="pbT0"/>
          <p:cNvSpPr txBox="1"/>
          <p:nvPr/>
        </p:nvSpPr>
        <p:spPr>
          <a:xfrm>
            <a:off x="6949440" y="1234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透明，也誠實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不給「風險分數」，避免把不確定的訊號說成定論；看不到就說看不到，每個數字附誤差。</a:t>
            </a:r>
            <a:endParaRPr lang="en-US" sz="1800" dirty="0"/>
          </a:p>
        </p:txBody>
      </p:sp>
      <p:sp>
        <p:nvSpPr>
          <p:cNvPr id="8" name="pbC1"/>
          <p:cNvSpPr/>
          <p:nvPr/>
        </p:nvSpPr>
        <p:spPr>
          <a:xfrm>
            <a:off x="6035040" y="26974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pbI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862072"/>
            <a:ext cx="402336" cy="402336"/>
          </a:xfrm>
          <a:prstGeom prst="rect">
            <a:avLst/>
          </a:prstGeom>
        </p:spPr>
      </p:pic>
      <p:sp>
        <p:nvSpPr>
          <p:cNvPr id="10" name="pbT1"/>
          <p:cNvSpPr txBox="1"/>
          <p:nvPr/>
        </p:nvSpPr>
        <p:spPr>
          <a:xfrm>
            <a:off x="6949440" y="26060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查得到身邊的坡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每個坡面頁列出附近道路、建物、聚落與土石流潛勢溪流，可切 3D 與逐年航照。</a:t>
            </a:r>
            <a:endParaRPr lang="en-US" sz="1800" dirty="0"/>
          </a:p>
        </p:txBody>
      </p:sp>
      <p:sp>
        <p:nvSpPr>
          <p:cNvPr id="11" name="pbC2"/>
          <p:cNvSpPr/>
          <p:nvPr/>
        </p:nvSpPr>
        <p:spPr>
          <a:xfrm>
            <a:off x="6035040" y="40690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pbI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4233672"/>
            <a:ext cx="402336" cy="402336"/>
          </a:xfrm>
          <a:prstGeom prst="rect">
            <a:avLst/>
          </a:prstGeom>
        </p:spPr>
      </p:pic>
      <p:sp>
        <p:nvSpPr>
          <p:cNvPr id="13" name="pbT2"/>
          <p:cNvSpPr txBox="1"/>
          <p:nvPr/>
        </p:nvSpPr>
        <p:spPr>
          <a:xfrm>
            <a:off x="6949440" y="39776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一起補資料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山區建物與產業道路在 OpenStreetMap 常缺漏，志工補上的每一筆都讓「會碰到誰」更完整；程式全部開源。</a:t>
            </a:r>
            <a:endParaRPr lang="en-US" sz="1800" dirty="0"/>
          </a:p>
        </p:txBody>
      </p:sp>
      <p:sp>
        <p:nvSpPr>
          <p:cNvPr id="14" name="closing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losingT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機器幫忙決定先看誰・證據鏈告訴你為什麼・最後由人決定要不要去　</a:t>
            </a:r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rhynowu-ardswc-resilience-observatory.hf.space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備用｜驗證細節：訊號只能「請人看」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備用｜對照崩塌智慧防災構想：現在在哪、下一步</a:t>
            </a:r>
            <a:endParaRPr lang="en-US" sz="3200" dirty="0"/>
          </a:p>
        </p:txBody>
      </p:sp>
      <p:sp>
        <p:nvSpPr>
          <p:cNvPr id="3" name="mod0"/>
          <p:cNvSpPr/>
          <p:nvPr/>
        </p:nvSpPr>
        <p:spPr>
          <a:xfrm>
            <a:off x="54864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dH0"/>
          <p:cNvSpPr txBox="1"/>
          <p:nvPr/>
        </p:nvSpPr>
        <p:spPr>
          <a:xfrm>
            <a:off x="73152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一、坡地風險底圖</a:t>
            </a:r>
            <a:endParaRPr lang="en-US" sz="1600" dirty="0"/>
          </a:p>
        </p:txBody>
      </p:sp>
      <p:sp>
        <p:nvSpPr>
          <p:cNvPr id="5" name="modP0"/>
          <p:cNvSpPr/>
          <p:nvPr/>
        </p:nvSpPr>
        <p:spPr>
          <a:xfrm>
            <a:off x="324612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odPT0"/>
          <p:cNvSpPr txBox="1"/>
          <p:nvPr/>
        </p:nvSpPr>
        <p:spPr>
          <a:xfrm>
            <a:off x="324612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7" name="modT0"/>
          <p:cNvSpPr txBox="1"/>
          <p:nvPr/>
        </p:nvSpPr>
        <p:spPr>
          <a:xfrm>
            <a:off x="73152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 m DEM、≥15° 有效坡面、事件目錄、四年崩塌圖層；新增 OSM 道路與建物暴露（坡面外推 100 m）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五萬分之一斷層、位態、順向坡尚缺向量（小比例尺地層見下頁）</a:t>
            </a:r>
            <a:endParaRPr lang="en-US" sz="1400" dirty="0"/>
          </a:p>
        </p:txBody>
      </p:sp>
      <p:sp>
        <p:nvSpPr>
          <p:cNvPr id="8" name="mod1"/>
          <p:cNvSpPr/>
          <p:nvPr/>
        </p:nvSpPr>
        <p:spPr>
          <a:xfrm>
            <a:off x="429768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odH1"/>
          <p:cNvSpPr txBox="1"/>
          <p:nvPr/>
        </p:nvSpPr>
        <p:spPr>
          <a:xfrm>
            <a:off x="448056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二、降雨觸發與前期含水</a:t>
            </a:r>
            <a:endParaRPr lang="en-US" sz="1600" dirty="0"/>
          </a:p>
        </p:txBody>
      </p:sp>
      <p:sp>
        <p:nvSpPr>
          <p:cNvPr id="10" name="modP1"/>
          <p:cNvSpPr/>
          <p:nvPr/>
        </p:nvSpPr>
        <p:spPr>
          <a:xfrm>
            <a:off x="699516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modPT1"/>
          <p:cNvSpPr txBox="1"/>
          <p:nvPr/>
        </p:nvSpPr>
        <p:spPr>
          <a:xfrm>
            <a:off x="699516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12" name="modT1"/>
          <p:cNvSpPr txBox="1"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雨量 I-D 曲線、前期累積雨量、土壤含水</a:t>
            </a:r>
            <a:endParaRPr lang="en-US" sz="1400" dirty="0"/>
          </a:p>
        </p:txBody>
      </p:sp>
      <p:sp>
        <p:nvSpPr>
          <p:cNvPr id="13" name="mod2"/>
          <p:cNvSpPr/>
          <p:nvPr/>
        </p:nvSpPr>
        <p:spPr>
          <a:xfrm>
            <a:off x="804672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odH2"/>
          <p:cNvSpPr txBox="1"/>
          <p:nvPr/>
        </p:nvSpPr>
        <p:spPr>
          <a:xfrm>
            <a:off x="822960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三、多源監測與異常偵測</a:t>
            </a:r>
            <a:endParaRPr lang="en-US" sz="1600" dirty="0"/>
          </a:p>
        </p:txBody>
      </p:sp>
      <p:sp>
        <p:nvSpPr>
          <p:cNvPr id="15" name="modP2"/>
          <p:cNvSpPr/>
          <p:nvPr/>
        </p:nvSpPr>
        <p:spPr>
          <a:xfrm>
            <a:off x="1074420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modPT2"/>
          <p:cNvSpPr txBox="1"/>
          <p:nvPr/>
        </p:nvSpPr>
        <p:spPr>
          <a:xfrm>
            <a:off x="1074420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17" name="modT2"/>
          <p:cNvSpPr txBox="1"/>
          <p:nvPr/>
        </p:nvSpPr>
        <p:spPr>
          <a:xfrm>
            <a:off x="822960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Sentinel-2 紅邊時間序列、Sentinel-1、現地照片、Wayback 人工查證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InSAR、微地動、水位；UAV 依輔導建議暫停</a:t>
            </a:r>
            <a:endParaRPr lang="en-US" sz="1400" dirty="0"/>
          </a:p>
        </p:txBody>
      </p:sp>
      <p:sp>
        <p:nvSpPr>
          <p:cNvPr id="18" name="mod3"/>
          <p:cNvSpPr/>
          <p:nvPr/>
        </p:nvSpPr>
        <p:spPr>
          <a:xfrm>
            <a:off x="54864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odH3"/>
          <p:cNvSpPr txBox="1"/>
          <p:nvPr/>
        </p:nvSpPr>
        <p:spPr>
          <a:xfrm>
            <a:off x="73152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四、AI 輔助判釋</a:t>
            </a:r>
            <a:endParaRPr lang="en-US" sz="1600" dirty="0"/>
          </a:p>
        </p:txBody>
      </p:sp>
      <p:sp>
        <p:nvSpPr>
          <p:cNvPr id="20" name="modP3"/>
          <p:cNvSpPr/>
          <p:nvPr/>
        </p:nvSpPr>
        <p:spPr>
          <a:xfrm>
            <a:off x="324612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modPT3"/>
          <p:cNvSpPr txBox="1"/>
          <p:nvPr/>
        </p:nvSpPr>
        <p:spPr>
          <a:xfrm>
            <a:off x="324612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2" name="modT3"/>
          <p:cNvSpPr txBox="1"/>
          <p:nvPr/>
        </p:nvSpPr>
        <p:spPr>
          <a:xfrm>
            <a:off x="73152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三級候選、坡面證據頁、每項訊號的準確度與 95% 信賴區間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自動產生研判摘要與待確認事項</a:t>
            </a:r>
            <a:endParaRPr lang="en-US" sz="1400" dirty="0"/>
          </a:p>
        </p:txBody>
      </p:sp>
      <p:sp>
        <p:nvSpPr>
          <p:cNvPr id="23" name="mod4"/>
          <p:cNvSpPr/>
          <p:nvPr/>
        </p:nvSpPr>
        <p:spPr>
          <a:xfrm>
            <a:off x="429768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odH4"/>
          <p:cNvSpPr txBox="1"/>
          <p:nvPr/>
        </p:nvSpPr>
        <p:spPr>
          <a:xfrm>
            <a:off x="448056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五、下游影響與災害鏈</a:t>
            </a:r>
            <a:endParaRPr lang="en-US" sz="1600" dirty="0"/>
          </a:p>
        </p:txBody>
      </p:sp>
      <p:sp>
        <p:nvSpPr>
          <p:cNvPr id="25" name="modP4"/>
          <p:cNvSpPr/>
          <p:nvPr/>
        </p:nvSpPr>
        <p:spPr>
          <a:xfrm>
            <a:off x="699516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modPT4"/>
          <p:cNvSpPr txBox="1"/>
          <p:nvPr/>
        </p:nvSpPr>
        <p:spPr>
          <a:xfrm>
            <a:off x="69951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7" name="modT4"/>
          <p:cNvSpPr txBox="1"/>
          <p:nvPr/>
        </p:nvSpPr>
        <p:spPr>
          <a:xfrm>
            <a:off x="448056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坡面所在的土石流潛勢溪流集水區與影響範圍（水保署）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土砂量、河道、堰塞、下游的動態串接</a:t>
            </a:r>
            <a:endParaRPr lang="en-US" sz="1400" dirty="0"/>
          </a:p>
        </p:txBody>
      </p:sp>
      <p:sp>
        <p:nvSpPr>
          <p:cNvPr id="28" name="mod5"/>
          <p:cNvSpPr/>
          <p:nvPr/>
        </p:nvSpPr>
        <p:spPr>
          <a:xfrm>
            <a:off x="804672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odH5"/>
          <p:cNvSpPr txBox="1"/>
          <p:nvPr/>
        </p:nvSpPr>
        <p:spPr>
          <a:xfrm>
            <a:off x="822960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六、應變工作流</a:t>
            </a:r>
            <a:endParaRPr lang="en-US" sz="1600" dirty="0"/>
          </a:p>
        </p:txBody>
      </p:sp>
      <p:sp>
        <p:nvSpPr>
          <p:cNvPr id="30" name="modP5"/>
          <p:cNvSpPr/>
          <p:nvPr/>
        </p:nvSpPr>
        <p:spPr>
          <a:xfrm>
            <a:off x="1074420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modPT5"/>
          <p:cNvSpPr txBox="1"/>
          <p:nvPr/>
        </p:nvSpPr>
        <p:spPr>
          <a:xfrm>
            <a:off x="1074420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32" name="modT5"/>
          <p:cNvSpPr txBox="1"/>
          <p:nvPr/>
        </p:nvSpPr>
        <p:spPr>
          <a:xfrm>
            <a:off x="822960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實務人員測試頁：判斷要不要現勘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事件建立、任務派發、決策紀錄</a:t>
            </a:r>
            <a:endParaRPr lang="en-US" sz="1400" dirty="0"/>
          </a:p>
        </p:txBody>
      </p:sp>
      <p:sp>
        <p:nvSpPr>
          <p:cNvPr id="33" name="posBar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osBarT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目前位置：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平時篩查（構想第一階段尾、第二階段開頭）　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下一步：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取得地質向量、串接降雨觸發與下游影響，走向事件反應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備用｜地質：哪些地層比較容易崩（粗尺度）</a:t>
            </a:r>
            <a:endParaRPr lang="en-US" sz="3200" dirty="0"/>
          </a:p>
        </p:txBody>
      </p:sp>
      <p:graphicFrame>
        <p:nvGraphicFramePr>
          <p:cNvPr id="11" name="geo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234440"/>
                <a:gridCol w="1005840"/>
                <a:gridCol w="1097280"/>
                <a:gridCol w="914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有效坡面 km²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 ha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崩塌密度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NDRE 下降坡面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三峽群及其相當地層（Ms）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中新世晚期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643.0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1,965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2.0%（95/4,858）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西村層，新高層（Eh）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始新世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541.6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1.7%（65/3,848）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廬山層（Ml）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408.5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2,357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2.2%（64/2,905）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瑞芳群及其相當地層（Mj）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中新世中期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2.1%（9/431）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錦水頁岩及其相當地層（P1）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0.0%（0/425）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臺地堆積（Q4）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3.9%（5/129）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頭嵙山層及其相當地層（PQc）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上新世－更新世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0.0%（0/37）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廬山層（v）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0.0%（0/21）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沖積層（Q6）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9.5%（4/42）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1,718.4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9,147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1.9%（242/12,699）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4" name="geoN0"/>
          <p:cNvSpPr/>
          <p:nvPr/>
        </p:nvSpPr>
        <p:spPr>
          <a:xfrm>
            <a:off x="54864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eoNT0"/>
          <p:cNvSpPr txBox="1"/>
          <p:nvPr/>
        </p:nvSpPr>
        <p:spPr>
          <a:xfrm>
            <a:off x="73152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讀法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崩塌密度＝2021–2024 年度崩塌圖層聯集 ÷ ≥15° 有效坡面；頻率比 &gt;1 表示比全區平均容易崩。始新世西村層（板岩）1.53 最高，上新世錦水頁岩 0.32 最低。NDRE 下降比例在面積大的主要地層都約 2%，差異不大（小地層樣本太少）。</a:t>
            </a:r>
            <a:endParaRPr lang="en-US" sz="1200" dirty="0"/>
          </a:p>
        </p:txBody>
      </p:sp>
      <p:sp>
        <p:nvSpPr>
          <p:cNvPr id="6" name="geoN1"/>
          <p:cNvSpPr/>
          <p:nvPr/>
        </p:nvSpPr>
        <p:spPr>
          <a:xfrm>
            <a:off x="617220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geoNT1"/>
          <p:cNvSpPr txBox="1"/>
          <p:nvPr/>
        </p:nvSpPr>
        <p:spPr>
          <a:xfrm>
            <a:off x="635508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限制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公開的只有小比例尺地層面（POC 內一塊中位數約 160 ha），沒有斷層、位態、崩積區；這是描述性統計，不是敏感度模型。斷層距離與順向坡要五萬分之一向量。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2026-10-26T13:21:54Z</dcterms:created>
  <dcterms:modified xsi:type="dcterms:W3CDTF">2026-10-26T13:21:54Z</dcterms:modified>
</cp:coreProperties>
</file>