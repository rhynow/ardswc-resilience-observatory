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b05fb860-8056-80e8-e906-9bc365d238a2}">
          <p14:sldIdLst>
            <p14:sldId id="256"/>
          </p14:sldIdLst>
        </p14:section>
        <p14:section name="問題與方法" id="{6abd0fb2-b11f-dbf8-9692-87d74d7a7817}">
          <p14:sldIdLst>
            <p14:sldId id="257"/>
            <p14:sldId id="258"/>
          </p14:sldIdLst>
        </p14:section>
        <p14:section name="成果與驗證" id="{05cbd77f-8bbd-e8cd-e2c6-ae52ac9cef0b}">
          <p14:sldIdLst>
            <p14:sldId id="259"/>
            <p14:sldId id="260"/>
          </p14:sldIdLst>
        </p14:section>
        <p14:section name="落地" id="{366bb991-d591-a6b0-2cfa-582cf67e83be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我們是 TASTI_SatDashboard。這個系統不是要取代崩塌判釋，而是把水保署已經有的事件型崩塌目錄、歷史現地照片和近期衛星影像，整理成每個坡面的證據鏈。一句話：機器幫忙決定先看誰，證據鏈告訴你為什麼，最後由人決定要不要去。（約 20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巡查人力有限，但山區坡面上萬個。要判斷先去哪裡，證據散在三個地方：事件型崩塌目錄、現地歷史照片、近期衛星影像，各有盲點。以高雄 POC 為例，約 1,800 平方公里、1 萬 3 千個坡面、近 9 千張現地照片。（約 40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方法上，我們以坡面為單位。依輔導委員建議，用集水區重疊法切坡面，只保留坡度 15 度以上的有效坡面，每個單元都是完整區塊。每個坡面有四類證據：事件目錄是主骨架，照片是補充，衛星只回答最近還有沒有變化，再加上影像品質提醒。四類分開呈現、不相加、不給總分，最後只給三種候選層級。（約 50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（點一下影片播放）這是線上系統的坡面頁操作。地圖上紅色是官方判釋的崩塌，黃線是這個坡面。右邊依序是為什麼列為優先、事件歷史、近期衛星變化曲線，還可以切換 Wayback 歷史影像做人工目視確認。整個高雄 POC 目前有 411 個坡面列為優先人工判讀。（約 45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左邊是凱米颱風前後的同一個坡面，颱風後 5 天整片植被消失，紅邊指標從 0.42 掉到接近 0。我們不只做系統，也量了它準不準。影像目視與官方圖層的有無裸露一致率只有 69%；舊版近期變化訊號約四分之一屬實。我們參考水保署電子報改用紅邊指標。在高雄全區，零星的下降經盲判只有 5/26 屬實；但在大事件後，花蓮有 75%、太魯閣有 43% 的崩塌坡面被抓到，沒有事件的坡面誤報約 2%。所以紅邊指標適合大事件後快速找出植被大片消失的坡面，自動訊號只用來排出先看誰，最後一定由人確認。（約 55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，這套流程全用開放資料與開源工具，程式公開，高雄完成完整流程，另外四個區域也測試過衛星與事件比對。接下來請專家盲判與第一線同仁實際操作，依結果調整規則。我們不是重新發明崩塌判釋，而是把既有證據整理成可追蹤的坡面履歷：機器幫忙決定先看誰，證據鏈告訴你為什麼，最後由人決定要不要去。謝謝。（約 40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18872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51460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TASTI_SatDashboard・OSSInt 2026 決賽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video" Target="../media/media-4-1.mp4"/><Relationship Id="rId2" Type="http://schemas.microsoft.com/office/2007/relationships/media" Target="../media/media-4-1.mp4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gif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1887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地景複發熱點觀測站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51460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坡地韌性哨兵</a:t>
            </a:r>
            <a:endParaRPr lang="en-US" sz="26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把事件目錄、現地照片與衛星影像，整理成每個坡面的證據鏈</a:t>
            </a:r>
            <a:endParaRPr lang="en-US" sz="2600" dirty="0"/>
          </a:p>
        </p:txBody>
      </p:sp>
      <p:sp>
        <p:nvSpPr>
          <p:cNvPr id="4" name="flow0"/>
          <p:cNvSpPr/>
          <p:nvPr/>
        </p:nvSpPr>
        <p:spPr>
          <a:xfrm>
            <a:off x="731520" y="4069080"/>
            <a:ext cx="3291840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flowIcon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4343400"/>
            <a:ext cx="548640" cy="548640"/>
          </a:xfrm>
          <a:prstGeom prst="rect">
            <a:avLst/>
          </a:prstGeom>
        </p:spPr>
      </p:pic>
      <p:sp>
        <p:nvSpPr>
          <p:cNvPr id="6" name="flowText0"/>
          <p:cNvSpPr txBox="1"/>
          <p:nvPr/>
        </p:nvSpPr>
        <p:spPr>
          <a:xfrm>
            <a:off x="1691640" y="41605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機器幫忙決定</a:t>
            </a:r>
            <a:endParaRPr lang="en-US" sz="16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先看誰</a:t>
            </a:r>
            <a:endParaRPr lang="en-US" sz="1600" dirty="0"/>
          </a:p>
        </p:txBody>
      </p:sp>
      <p:sp>
        <p:nvSpPr>
          <p:cNvPr id="7" name="flow1"/>
          <p:cNvSpPr/>
          <p:nvPr/>
        </p:nvSpPr>
        <p:spPr>
          <a:xfrm>
            <a:off x="4343400" y="4069080"/>
            <a:ext cx="3291840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8" name="flowIcon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343400"/>
            <a:ext cx="548640" cy="548640"/>
          </a:xfrm>
          <a:prstGeom prst="rect">
            <a:avLst/>
          </a:prstGeom>
        </p:spPr>
      </p:pic>
      <p:sp>
        <p:nvSpPr>
          <p:cNvPr id="9" name="flowText1"/>
          <p:cNvSpPr txBox="1"/>
          <p:nvPr/>
        </p:nvSpPr>
        <p:spPr>
          <a:xfrm>
            <a:off x="5303520" y="41605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證據鏈告訴你</a:t>
            </a:r>
            <a:endParaRPr lang="en-US" sz="16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為什麼</a:t>
            </a:r>
            <a:endParaRPr lang="en-US" sz="1600" dirty="0"/>
          </a:p>
        </p:txBody>
      </p:sp>
      <p:sp>
        <p:nvSpPr>
          <p:cNvPr id="10" name="flow2"/>
          <p:cNvSpPr/>
          <p:nvPr/>
        </p:nvSpPr>
        <p:spPr>
          <a:xfrm>
            <a:off x="7955280" y="4069080"/>
            <a:ext cx="3291840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flowIcon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4343400"/>
            <a:ext cx="548640" cy="548640"/>
          </a:xfrm>
          <a:prstGeom prst="rect">
            <a:avLst/>
          </a:prstGeom>
        </p:spPr>
      </p:pic>
      <p:sp>
        <p:nvSpPr>
          <p:cNvPr id="12" name="flowText2"/>
          <p:cNvSpPr txBox="1"/>
          <p:nvPr/>
        </p:nvSpPr>
        <p:spPr>
          <a:xfrm>
            <a:off x="8915400" y="41605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最後由人決定</a:t>
            </a:r>
            <a:endParaRPr lang="en-US" sz="16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要不要去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TASTI_SatDashboard｜開源空間資訊於國家韌性應用黑客松 OSSInt 2026 決賽　　rhynowu-ardswc-resilience-observatory.hf.space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巡查先看哪裡？證據散在三個地方</a:t>
            </a:r>
            <a:endParaRPr lang="en-US" sz="3200" dirty="0"/>
          </a:p>
        </p:txBody>
      </p:sp>
      <p:sp>
        <p:nvSpPr>
          <p:cNvPr id="3" name="src0"/>
          <p:cNvSpPr/>
          <p:nvPr/>
        </p:nvSpPr>
        <p:spPr>
          <a:xfrm>
            <a:off x="548640" y="141732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rcIcon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91640"/>
            <a:ext cx="594360" cy="594360"/>
          </a:xfrm>
          <a:prstGeom prst="rect">
            <a:avLst/>
          </a:prstGeom>
        </p:spPr>
      </p:pic>
      <p:sp>
        <p:nvSpPr>
          <p:cNvPr id="5" name="srcH0"/>
          <p:cNvSpPr txBox="1"/>
          <p:nvPr/>
        </p:nvSpPr>
        <p:spPr>
          <a:xfrm>
            <a:off x="82296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事件型崩塌目錄</a:t>
            </a:r>
            <a:endParaRPr lang="en-US" sz="2000" dirty="0"/>
          </a:p>
        </p:txBody>
      </p:sp>
      <p:sp>
        <p:nvSpPr>
          <p:cNvPr id="6" name="srcD0"/>
          <p:cNvSpPr txBox="1"/>
          <p:nvPr/>
        </p:nvSpPr>
        <p:spPr>
          <a:xfrm>
            <a:off x="822960" y="29718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衛星判釋每次事件「新生或擴大」的部分；只涵蓋看得到的大事件</a:t>
            </a:r>
            <a:endParaRPr lang="en-US" sz="1500" dirty="0"/>
          </a:p>
        </p:txBody>
      </p:sp>
      <p:sp>
        <p:nvSpPr>
          <p:cNvPr id="7" name="src1"/>
          <p:cNvSpPr/>
          <p:nvPr/>
        </p:nvSpPr>
        <p:spPr>
          <a:xfrm>
            <a:off x="4297680" y="141732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8" name="srcIcon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691640"/>
            <a:ext cx="594360" cy="594360"/>
          </a:xfrm>
          <a:prstGeom prst="rect">
            <a:avLst/>
          </a:prstGeom>
        </p:spPr>
      </p:pic>
      <p:sp>
        <p:nvSpPr>
          <p:cNvPr id="9" name="srcH1"/>
          <p:cNvSpPr txBox="1"/>
          <p:nvPr/>
        </p:nvSpPr>
        <p:spPr>
          <a:xfrm>
            <a:off x="457200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現地歷史照片</a:t>
            </a:r>
            <a:endParaRPr lang="en-US" sz="2000" dirty="0"/>
          </a:p>
        </p:txBody>
      </p:sp>
      <p:sp>
        <p:nvSpPr>
          <p:cNvPr id="10" name="srcD1"/>
          <p:cNvSpPr txBox="1"/>
          <p:nvPr/>
        </p:nvSpPr>
        <p:spPr>
          <a:xfrm>
            <a:off x="4572000" y="29718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補小型崩塌、落石、道路邊坡；多拍在道路可達處</a:t>
            </a:r>
            <a:endParaRPr lang="en-US" sz="1500" dirty="0"/>
          </a:p>
        </p:txBody>
      </p:sp>
      <p:sp>
        <p:nvSpPr>
          <p:cNvPr id="11" name="src2"/>
          <p:cNvSpPr/>
          <p:nvPr/>
        </p:nvSpPr>
        <p:spPr>
          <a:xfrm>
            <a:off x="8046720" y="141732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srcIcon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691640"/>
            <a:ext cx="594360" cy="594360"/>
          </a:xfrm>
          <a:prstGeom prst="rect">
            <a:avLst/>
          </a:prstGeom>
        </p:spPr>
      </p:pic>
      <p:sp>
        <p:nvSpPr>
          <p:cNvPr id="13" name="srcH2"/>
          <p:cNvSpPr txBox="1"/>
          <p:nvPr/>
        </p:nvSpPr>
        <p:spPr>
          <a:xfrm>
            <a:off x="832104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近期衛星影像</a:t>
            </a:r>
            <a:endParaRPr lang="en-US" sz="2000" dirty="0"/>
          </a:p>
        </p:txBody>
      </p:sp>
      <p:sp>
        <p:nvSpPr>
          <p:cNvPr id="14" name="srcD2"/>
          <p:cNvSpPr txBox="1"/>
          <p:nvPr/>
        </p:nvSpPr>
        <p:spPr>
          <a:xfrm>
            <a:off x="8321040" y="29718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Sentinel-2 約每 5 天一次；Wayback 解析度高、拍攝不定期</a:t>
            </a:r>
            <a:endParaRPr lang="en-US" sz="1500" dirty="0"/>
          </a:p>
        </p:txBody>
      </p:sp>
      <p:sp>
        <p:nvSpPr>
          <p:cNvPr id="15" name="stat0"/>
          <p:cNvSpPr txBox="1"/>
          <p:nvPr/>
        </p:nvSpPr>
        <p:spPr>
          <a:xfrm>
            <a:off x="548640" y="42062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約 1,800 km²</a:t>
            </a:r>
            <a:endParaRPr lang="en-US" sz="3600" dirty="0"/>
          </a:p>
        </p:txBody>
      </p:sp>
      <p:sp>
        <p:nvSpPr>
          <p:cNvPr id="16" name="statL0"/>
          <p:cNvSpPr txBox="1"/>
          <p:nvPr/>
        </p:nvSpPr>
        <p:spPr>
          <a:xfrm>
            <a:off x="548640" y="4937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高雄 POC（桃源・那瑪夏・六龜・甲仙）</a:t>
            </a:r>
            <a:endParaRPr lang="en-US" sz="1400" dirty="0"/>
          </a:p>
        </p:txBody>
      </p:sp>
      <p:sp>
        <p:nvSpPr>
          <p:cNvPr id="17" name="stat1"/>
          <p:cNvSpPr txBox="1"/>
          <p:nvPr/>
        </p:nvSpPr>
        <p:spPr>
          <a:xfrm>
            <a:off x="4297680" y="42062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13,175</a:t>
            </a:r>
            <a:endParaRPr lang="en-US" sz="3600" dirty="0"/>
          </a:p>
        </p:txBody>
      </p:sp>
      <p:sp>
        <p:nvSpPr>
          <p:cNvPr id="18" name="statL1"/>
          <p:cNvSpPr txBox="1"/>
          <p:nvPr/>
        </p:nvSpPr>
        <p:spPr>
          <a:xfrm>
            <a:off x="4297680" y="4937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個坡面單元</a:t>
            </a:r>
            <a:endParaRPr lang="en-US" sz="1400" dirty="0"/>
          </a:p>
        </p:txBody>
      </p:sp>
      <p:sp>
        <p:nvSpPr>
          <p:cNvPr id="19" name="stat2"/>
          <p:cNvSpPr txBox="1"/>
          <p:nvPr/>
        </p:nvSpPr>
        <p:spPr>
          <a:xfrm>
            <a:off x="8046720" y="42062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8,856</a:t>
            </a:r>
            <a:endParaRPr lang="en-US" sz="3600" dirty="0"/>
          </a:p>
        </p:txBody>
      </p:sp>
      <p:sp>
        <p:nvSpPr>
          <p:cNvPr id="20" name="statL2"/>
          <p:cNvSpPr txBox="1"/>
          <p:nvPr/>
        </p:nvSpPr>
        <p:spPr>
          <a:xfrm>
            <a:off x="8046720" y="4937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張現地照片落在 POC 內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以坡面為單位，四類證據分開，不給總分</a:t>
            </a:r>
            <a:endParaRPr lang="en-US" sz="3200" dirty="0"/>
          </a:p>
        </p:txBody>
      </p:sp>
      <p:pic>
        <p:nvPicPr>
          <p:cNvPr id="3" name="suMap" descr="v2_onl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206240" cy="4206240"/>
          </a:xfrm>
          <a:prstGeom prst="rect">
            <a:avLst/>
          </a:prstGeom>
        </p:spPr>
      </p:pic>
      <p:sp>
        <p:nvSpPr>
          <p:cNvPr id="4" name="suCap"/>
          <p:cNvSpPr txBox="1"/>
          <p:nvPr/>
        </p:nvSpPr>
        <p:spPr>
          <a:xfrm>
            <a:off x="548640" y="557784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集水區重疊法（正、反 DEM）切坡面，只保留坡度 ≥15° 的有效坡面；每個單元都是完整區塊（舊版 85% 不連續 → 0%）</a:t>
            </a:r>
            <a:endParaRPr lang="en-US" sz="1200" dirty="0"/>
          </a:p>
        </p:txBody>
      </p:sp>
      <p:sp>
        <p:nvSpPr>
          <p:cNvPr id="5" name="evDot0"/>
          <p:cNvSpPr/>
          <p:nvPr/>
        </p:nvSpPr>
        <p:spPr>
          <a:xfrm>
            <a:off x="5212080" y="1417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evN0"/>
          <p:cNvSpPr txBox="1"/>
          <p:nvPr/>
        </p:nvSpPr>
        <p:spPr>
          <a:xfrm>
            <a:off x="521208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①</a:t>
            </a:r>
            <a:endParaRPr lang="en-US" sz="1800" dirty="0"/>
          </a:p>
        </p:txBody>
      </p:sp>
      <p:sp>
        <p:nvSpPr>
          <p:cNvPr id="7" name="evT0"/>
          <p:cNvSpPr txBox="1"/>
          <p:nvPr/>
        </p:nvSpPr>
        <p:spPr>
          <a:xfrm>
            <a:off x="5943600" y="137160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事件目錄與年度圖層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主骨架：歷次新增、擴大掛到同一坡面</a:t>
            </a:r>
            <a:endParaRPr lang="en-US" sz="1800" dirty="0"/>
          </a:p>
        </p:txBody>
      </p:sp>
      <p:sp>
        <p:nvSpPr>
          <p:cNvPr id="8" name="evDot1"/>
          <p:cNvSpPr/>
          <p:nvPr/>
        </p:nvSpPr>
        <p:spPr>
          <a:xfrm>
            <a:off x="5212080" y="22860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evN1"/>
          <p:cNvSpPr txBox="1"/>
          <p:nvPr/>
        </p:nvSpPr>
        <p:spPr>
          <a:xfrm>
            <a:off x="521208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②</a:t>
            </a:r>
            <a:endParaRPr lang="en-US" sz="1800" dirty="0"/>
          </a:p>
        </p:txBody>
      </p:sp>
      <p:sp>
        <p:nvSpPr>
          <p:cNvPr id="10" name="evT1"/>
          <p:cNvSpPr txBox="1"/>
          <p:nvPr/>
        </p:nvSpPr>
        <p:spPr>
          <a:xfrm>
            <a:off x="5943600" y="224028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現地照片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補充證據，與①分開計、不相加</a:t>
            </a:r>
            <a:endParaRPr lang="en-US" sz="1800" dirty="0"/>
          </a:p>
        </p:txBody>
      </p:sp>
      <p:sp>
        <p:nvSpPr>
          <p:cNvPr id="11" name="evDot2"/>
          <p:cNvSpPr/>
          <p:nvPr/>
        </p:nvSpPr>
        <p:spPr>
          <a:xfrm>
            <a:off x="5212080" y="31546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evN2"/>
          <p:cNvSpPr txBox="1"/>
          <p:nvPr/>
        </p:nvSpPr>
        <p:spPr>
          <a:xfrm>
            <a:off x="5212080" y="3154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③</a:t>
            </a:r>
            <a:endParaRPr lang="en-US" sz="1800" dirty="0"/>
          </a:p>
        </p:txBody>
      </p:sp>
      <p:sp>
        <p:nvSpPr>
          <p:cNvPr id="13" name="evT2"/>
          <p:cNvSpPr txBox="1"/>
          <p:nvPr/>
        </p:nvSpPr>
        <p:spPr>
          <a:xfrm>
            <a:off x="5943600" y="310896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近期衛星變化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Sentinel-2 時間序列，只回答「最近還有沒有變化」</a:t>
            </a:r>
            <a:endParaRPr lang="en-US" sz="1800" dirty="0"/>
          </a:p>
        </p:txBody>
      </p:sp>
      <p:sp>
        <p:nvSpPr>
          <p:cNvPr id="14" name="evDot3"/>
          <p:cNvSpPr/>
          <p:nvPr/>
        </p:nvSpPr>
        <p:spPr>
          <a:xfrm>
            <a:off x="5212080" y="4023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evN3"/>
          <p:cNvSpPr txBox="1"/>
          <p:nvPr/>
        </p:nvSpPr>
        <p:spPr>
          <a:xfrm>
            <a:off x="5212080" y="4023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④</a:t>
            </a:r>
            <a:endParaRPr lang="en-US" sz="1800" dirty="0"/>
          </a:p>
        </p:txBody>
      </p:sp>
      <p:sp>
        <p:nvSpPr>
          <p:cNvPr id="16" name="evT3"/>
          <p:cNvSpPr txBox="1"/>
          <p:nvPr/>
        </p:nvSpPr>
        <p:spPr>
          <a:xfrm>
            <a:off x="5943600" y="39776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影像品質提醒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雲、陰影、有效觀測筆數、Wayback 偏移</a:t>
            </a:r>
            <a:endParaRPr lang="en-US" sz="1800" dirty="0"/>
          </a:p>
        </p:txBody>
      </p:sp>
      <p:sp>
        <p:nvSpPr>
          <p:cNvPr id="17" name="tierLead"/>
          <p:cNvSpPr txBox="1"/>
          <p:nvPr/>
        </p:nvSpPr>
        <p:spPr>
          <a:xfrm>
            <a:off x="5212080" y="4937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只給三種候選層級，由人決定是否現勘：</a:t>
            </a:r>
            <a:endParaRPr lang="en-US" sz="1500" dirty="0"/>
          </a:p>
        </p:txBody>
      </p:sp>
      <p:sp>
        <p:nvSpPr>
          <p:cNvPr id="18" name="tier0"/>
          <p:cNvSpPr/>
          <p:nvPr/>
        </p:nvSpPr>
        <p:spPr>
          <a:xfrm>
            <a:off x="5212080" y="5440680"/>
            <a:ext cx="1965960" cy="54864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ierT0"/>
          <p:cNvSpPr txBox="1"/>
          <p:nvPr/>
        </p:nvSpPr>
        <p:spPr>
          <a:xfrm>
            <a:off x="5212080" y="54406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優先人工判讀</a:t>
            </a:r>
            <a:endParaRPr lang="en-US" sz="1500" dirty="0"/>
          </a:p>
        </p:txBody>
      </p:sp>
      <p:sp>
        <p:nvSpPr>
          <p:cNvPr id="20" name="tier1"/>
          <p:cNvSpPr/>
          <p:nvPr/>
        </p:nvSpPr>
        <p:spPr>
          <a:xfrm>
            <a:off x="7360920" y="5440680"/>
            <a:ext cx="1965960" cy="5486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ierT1"/>
          <p:cNvSpPr txBox="1"/>
          <p:nvPr/>
        </p:nvSpPr>
        <p:spPr>
          <a:xfrm>
            <a:off x="7360920" y="54406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一般判讀</a:t>
            </a:r>
            <a:endParaRPr lang="en-US" sz="1500" dirty="0"/>
          </a:p>
        </p:txBody>
      </p:sp>
      <p:sp>
        <p:nvSpPr>
          <p:cNvPr id="22" name="tier2"/>
          <p:cNvSpPr/>
          <p:nvPr/>
        </p:nvSpPr>
        <p:spPr>
          <a:xfrm>
            <a:off x="9509760" y="5440680"/>
            <a:ext cx="1965960" cy="54864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3" name="tierT2"/>
          <p:cNvSpPr txBox="1"/>
          <p:nvPr/>
        </p:nvSpPr>
        <p:spPr>
          <a:xfrm>
            <a:off x="9509760" y="54406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資料不足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每個坡面一頁：過去發生過什麼、最近還有沒有變化</a:t>
            </a:r>
            <a:endParaRPr lang="en-US" sz="3200" dirty="0"/>
          </a:p>
        </p:txBody>
      </p:sp>
      <p:pic>
        <p:nvPicPr>
          <p:cNvPr id="3" name="suVide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371600"/>
            <a:ext cx="7424928" cy="4178808"/>
          </a:xfrm>
          <a:prstGeom prst="rect">
            <a:avLst/>
          </a:prstGeom>
        </p:spPr>
      </p:pic>
      <p:sp>
        <p:nvSpPr>
          <p:cNvPr id="4" name="vidCap"/>
          <p:cNvSpPr txBox="1"/>
          <p:nvPr/>
        </p:nvSpPr>
        <p:spPr>
          <a:xfrm>
            <a:off x="548640" y="5623560"/>
            <a:ext cx="7424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線上系統操作錄影（約 27 秒，點一下播放）：查詢坡面 → 證據鏈 → 切換 Wayback 歷史影像</a:t>
            </a:r>
            <a:endParaRPr lang="en-US" sz="1200" dirty="0"/>
          </a:p>
        </p:txBody>
      </p:sp>
      <p:sp>
        <p:nvSpPr>
          <p:cNvPr id="5" name="pt0"/>
          <p:cNvSpPr/>
          <p:nvPr/>
        </p:nvSpPr>
        <p:spPr>
          <a:xfrm>
            <a:off x="8275320" y="1371600"/>
            <a:ext cx="33375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ptT0"/>
          <p:cNvSpPr txBox="1"/>
          <p:nvPr/>
        </p:nvSpPr>
        <p:spPr>
          <a:xfrm>
            <a:off x="8458200" y="1444752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為什麼是這個層級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列出觸發的條件與提醒，不是分數</a:t>
            </a:r>
            <a:endParaRPr lang="en-US" sz="1600" dirty="0"/>
          </a:p>
        </p:txBody>
      </p:sp>
      <p:sp>
        <p:nvSpPr>
          <p:cNvPr id="7" name="pt1"/>
          <p:cNvSpPr/>
          <p:nvPr/>
        </p:nvSpPr>
        <p:spPr>
          <a:xfrm>
            <a:off x="8275320" y="2560320"/>
            <a:ext cx="33375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ptT1"/>
          <p:cNvSpPr txBox="1"/>
          <p:nvPr/>
        </p:nvSpPr>
        <p:spPr>
          <a:xfrm>
            <a:off x="8458200" y="2633472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事件歷史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凱米颱風在此坡面新增 0.81 ha</a:t>
            </a:r>
            <a:endParaRPr lang="en-US" sz="1600" dirty="0"/>
          </a:p>
        </p:txBody>
      </p:sp>
      <p:sp>
        <p:nvSpPr>
          <p:cNvPr id="9" name="pt2"/>
          <p:cNvSpPr/>
          <p:nvPr/>
        </p:nvSpPr>
        <p:spPr>
          <a:xfrm>
            <a:off x="8275320" y="3749040"/>
            <a:ext cx="33375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ptT2"/>
          <p:cNvSpPr txBox="1"/>
          <p:nvPr/>
        </p:nvSpPr>
        <p:spPr>
          <a:xfrm>
            <a:off x="8458200" y="3822192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近期衛星變化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NDRE 逐月曲線與下降日</a:t>
            </a:r>
            <a:endParaRPr lang="en-US" sz="1600" dirty="0"/>
          </a:p>
        </p:txBody>
      </p:sp>
      <p:sp>
        <p:nvSpPr>
          <p:cNvPr id="11" name="pt3"/>
          <p:cNvSpPr/>
          <p:nvPr/>
        </p:nvSpPr>
        <p:spPr>
          <a:xfrm>
            <a:off x="8275320" y="4937760"/>
            <a:ext cx="33375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ptT3"/>
          <p:cNvSpPr txBox="1"/>
          <p:nvPr/>
        </p:nvSpPr>
        <p:spPr>
          <a:xfrm>
            <a:off x="8458200" y="5010912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高解析佐證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Wayback 拍攝日選單，人工目視確認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我們量了它準不準：訊號只能「請人看」</a:t>
            </a:r>
            <a:endParaRPr lang="en-US" sz="3200" dirty="0"/>
          </a:p>
        </p:txBody>
      </p:sp>
      <p:pic>
        <p:nvPicPr>
          <p:cNvPr id="3" name="gaemiGif" descr="gaemi_s2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3931920" cy="3931920"/>
          </a:xfrm>
          <a:prstGeom prst="rect">
            <a:avLst/>
          </a:prstGeom>
        </p:spPr>
      </p:pic>
      <p:sp>
        <p:nvSpPr>
          <p:cNvPr id="4" name="gifCap"/>
          <p:cNvSpPr txBox="1"/>
          <p:nvPr/>
        </p:nvSpPr>
        <p:spPr>
          <a:xfrm>
            <a:off x="548640" y="534924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凱米颱風前後（Sentinel-2，白線＝坡面）：NDRE 從 0.42 降到接近 0</a:t>
            </a:r>
            <a:endParaRPr lang="en-US" sz="1200" dirty="0"/>
          </a:p>
        </p:txBody>
      </p:sp>
      <p:sp>
        <p:nvSpPr>
          <p:cNvPr id="5" name="val0"/>
          <p:cNvSpPr/>
          <p:nvPr/>
        </p:nvSpPr>
        <p:spPr>
          <a:xfrm>
            <a:off x="4846320" y="13258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valN0"/>
          <p:cNvSpPr txBox="1"/>
          <p:nvPr/>
        </p:nvSpPr>
        <p:spPr>
          <a:xfrm>
            <a:off x="5029200" y="143560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69%</a:t>
            </a:r>
            <a:endParaRPr lang="en-US" sz="2800" dirty="0"/>
          </a:p>
        </p:txBody>
      </p:sp>
      <p:sp>
        <p:nvSpPr>
          <p:cNvPr id="7" name="valL0"/>
          <p:cNvSpPr txBox="1"/>
          <p:nvPr/>
        </p:nvSpPr>
        <p:spPr>
          <a:xfrm>
            <a:off x="5029200" y="2057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目視與官方圖層「有無裸露」一致</a:t>
            </a:r>
            <a:endParaRPr lang="en-US" sz="1400" dirty="0"/>
          </a:p>
        </p:txBody>
      </p:sp>
      <p:sp>
        <p:nvSpPr>
          <p:cNvPr id="8" name="valS0"/>
          <p:cNvSpPr txBox="1"/>
          <p:nvPr/>
        </p:nvSpPr>
        <p:spPr>
          <a:xfrm>
            <a:off x="5029200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人工盲測 n=29</a:t>
            </a:r>
            <a:endParaRPr lang="en-US" sz="1100" dirty="0"/>
          </a:p>
        </p:txBody>
      </p:sp>
      <p:sp>
        <p:nvSpPr>
          <p:cNvPr id="9" name="val1"/>
          <p:cNvSpPr/>
          <p:nvPr/>
        </p:nvSpPr>
        <p:spPr>
          <a:xfrm>
            <a:off x="8321040" y="13258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valN1"/>
          <p:cNvSpPr txBox="1"/>
          <p:nvPr/>
        </p:nvSpPr>
        <p:spPr>
          <a:xfrm>
            <a:off x="8503920" y="143560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約 1/4</a:t>
            </a:r>
            <a:endParaRPr lang="en-US" sz="2800" dirty="0"/>
          </a:p>
        </p:txBody>
      </p:sp>
      <p:sp>
        <p:nvSpPr>
          <p:cNvPr id="11" name="valL1"/>
          <p:cNvSpPr txBox="1"/>
          <p:nvPr/>
        </p:nvSpPr>
        <p:spPr>
          <a:xfrm>
            <a:off x="8503920" y="2057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舊版「近期有變化」訊號屬實</a:t>
            </a:r>
            <a:endParaRPr lang="en-US" sz="1400" dirty="0"/>
          </a:p>
        </p:txBody>
      </p:sp>
      <p:sp>
        <p:nvSpPr>
          <p:cNvPr id="12" name="valS1"/>
          <p:cNvSpPr txBox="1"/>
          <p:nvPr/>
        </p:nvSpPr>
        <p:spPr>
          <a:xfrm>
            <a:off x="8503920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24 個分層坡面</a:t>
            </a:r>
            <a:endParaRPr lang="en-US" sz="1100" dirty="0"/>
          </a:p>
        </p:txBody>
      </p:sp>
      <p:sp>
        <p:nvSpPr>
          <p:cNvPr id="13" name="val2"/>
          <p:cNvSpPr/>
          <p:nvPr/>
        </p:nvSpPr>
        <p:spPr>
          <a:xfrm>
            <a:off x="4846320" y="31546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valN2"/>
          <p:cNvSpPr txBox="1"/>
          <p:nvPr/>
        </p:nvSpPr>
        <p:spPr>
          <a:xfrm>
            <a:off x="5029200" y="326440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5/26</a:t>
            </a:r>
            <a:endParaRPr lang="en-US" sz="2800" dirty="0"/>
          </a:p>
        </p:txBody>
      </p:sp>
      <p:sp>
        <p:nvSpPr>
          <p:cNvPr id="15" name="valL2"/>
          <p:cNvSpPr txBox="1"/>
          <p:nvPr/>
        </p:nvSpPr>
        <p:spPr>
          <a:xfrm>
            <a:off x="5029200" y="38862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高雄全區紅邊下降經盲判屬實</a:t>
            </a:r>
            <a:endParaRPr lang="en-US" sz="1400" dirty="0"/>
          </a:p>
        </p:txBody>
      </p:sp>
      <p:sp>
        <p:nvSpPr>
          <p:cNvPr id="16" name="valS2"/>
          <p:cNvSpPr txBox="1"/>
          <p:nvPr/>
        </p:nvSpPr>
        <p:spPr>
          <a:xfrm>
            <a:off x="5029200" y="4434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32 個坡面分層盲判</a:t>
            </a:r>
            <a:endParaRPr lang="en-US" sz="1100" dirty="0"/>
          </a:p>
        </p:txBody>
      </p:sp>
      <p:sp>
        <p:nvSpPr>
          <p:cNvPr id="17" name="val3"/>
          <p:cNvSpPr/>
          <p:nvPr/>
        </p:nvSpPr>
        <p:spPr>
          <a:xfrm>
            <a:off x="8321040" y="31546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valN3"/>
          <p:cNvSpPr txBox="1"/>
          <p:nvPr/>
        </p:nvSpPr>
        <p:spPr>
          <a:xfrm>
            <a:off x="8503920" y="326440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75%・43%</a:t>
            </a:r>
            <a:endParaRPr lang="en-US" sz="2800" dirty="0"/>
          </a:p>
        </p:txBody>
      </p:sp>
      <p:sp>
        <p:nvSpPr>
          <p:cNvPr id="19" name="valL3"/>
          <p:cNvSpPr txBox="1"/>
          <p:nvPr/>
        </p:nvSpPr>
        <p:spPr>
          <a:xfrm>
            <a:off x="8503920" y="38862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大事件後崩塌坡面被抓到（花蓮・太魯閣），誤報約 2%</a:t>
            </a:r>
            <a:endParaRPr lang="en-US" sz="1400" dirty="0"/>
          </a:p>
        </p:txBody>
      </p:sp>
      <p:sp>
        <p:nvSpPr>
          <p:cNvPr id="20" name="valS3"/>
          <p:cNvSpPr txBox="1"/>
          <p:nvPr/>
        </p:nvSpPr>
        <p:spPr>
          <a:xfrm>
            <a:off x="8503920" y="4434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事件目錄對照，崩塌占坡面兩成以上才可靠</a:t>
            </a:r>
            <a:endParaRPr lang="en-US" sz="1100" dirty="0"/>
          </a:p>
        </p:txBody>
      </p:sp>
      <p:sp>
        <p:nvSpPr>
          <p:cNvPr id="21" name="concl"/>
          <p:cNvSpPr/>
          <p:nvPr/>
        </p:nvSpPr>
        <p:spPr>
          <a:xfrm>
            <a:off x="4846320" y="5029200"/>
            <a:ext cx="6766560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conclT"/>
          <p:cNvSpPr txBox="1"/>
          <p:nvPr/>
        </p:nvSpPr>
        <p:spPr>
          <a:xfrm>
            <a:off x="5074920" y="5074920"/>
            <a:ext cx="6355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所以：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紅邊指標適合大事件後找出植被大片消失的坡面，平時零星變化不可靠；自動訊號只排「先看誰」，最後由人確認。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可複製、可檢驗，接下來交給第一線檢驗</a:t>
            </a:r>
            <a:endParaRPr lang="en-US" sz="3200" dirty="0"/>
          </a:p>
        </p:txBody>
      </p:sp>
      <p:sp>
        <p:nvSpPr>
          <p:cNvPr id="3" name="nxC0"/>
          <p:cNvSpPr/>
          <p:nvPr/>
        </p:nvSpPr>
        <p:spPr>
          <a:xfrm>
            <a:off x="548640" y="1371600"/>
            <a:ext cx="868680" cy="86868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nxI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572768"/>
            <a:ext cx="457200" cy="457200"/>
          </a:xfrm>
          <a:prstGeom prst="rect">
            <a:avLst/>
          </a:prstGeom>
        </p:spPr>
      </p:pic>
      <p:sp>
        <p:nvSpPr>
          <p:cNvPr id="5" name="nxT0"/>
          <p:cNvSpPr txBox="1"/>
          <p:nvPr/>
        </p:nvSpPr>
        <p:spPr>
          <a:xfrm>
            <a:off x="1691640" y="132588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全用開放資料與開源工具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水保署 BigGIS、歷史影像平台、內政部 20 m DEM、Sentinel-2；程式公開在 GitHub</a:t>
            </a:r>
            <a:endParaRPr lang="en-US" sz="2000" dirty="0"/>
          </a:p>
        </p:txBody>
      </p:sp>
      <p:sp>
        <p:nvSpPr>
          <p:cNvPr id="6" name="nxC1"/>
          <p:cNvSpPr/>
          <p:nvPr/>
        </p:nvSpPr>
        <p:spPr>
          <a:xfrm>
            <a:off x="548640" y="2697480"/>
            <a:ext cx="868680" cy="86868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7" name="nxI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898648"/>
            <a:ext cx="457200" cy="457200"/>
          </a:xfrm>
          <a:prstGeom prst="rect">
            <a:avLst/>
          </a:prstGeom>
        </p:spPr>
      </p:pic>
      <p:sp>
        <p:nvSpPr>
          <p:cNvPr id="8" name="nxT1"/>
          <p:cNvSpPr txBox="1"/>
          <p:nvPr/>
        </p:nvSpPr>
        <p:spPr>
          <a:xfrm>
            <a:off x="1691640" y="265176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流程可搬到其他流域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高雄完成完整證據鏈；花蓮、太魯閣、中部、嘉義已測試事件目錄與衛星比對</a:t>
            </a:r>
            <a:endParaRPr lang="en-US" sz="2000" dirty="0"/>
          </a:p>
        </p:txBody>
      </p:sp>
      <p:sp>
        <p:nvSpPr>
          <p:cNvPr id="9" name="nxC2"/>
          <p:cNvSpPr/>
          <p:nvPr/>
        </p:nvSpPr>
        <p:spPr>
          <a:xfrm>
            <a:off x="548640" y="4023360"/>
            <a:ext cx="868680" cy="86868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0" name="nxI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4224528"/>
            <a:ext cx="457200" cy="457200"/>
          </a:xfrm>
          <a:prstGeom prst="rect">
            <a:avLst/>
          </a:prstGeom>
        </p:spPr>
      </p:pic>
      <p:sp>
        <p:nvSpPr>
          <p:cNvPr id="11" name="nxT2"/>
          <p:cNvSpPr txBox="1"/>
          <p:nvPr/>
        </p:nvSpPr>
        <p:spPr>
          <a:xfrm>
            <a:off x="1691640" y="397764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人工驗證持續進行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專家盲判 2–3 位、實務人員操作測試 3–5 位；依結果調整候選規則</a:t>
            </a:r>
            <a:endParaRPr lang="en-US" sz="2000" dirty="0"/>
          </a:p>
        </p:txBody>
      </p:sp>
      <p:sp>
        <p:nvSpPr>
          <p:cNvPr id="12" name="closing"/>
          <p:cNvSpPr/>
          <p:nvPr/>
        </p:nvSpPr>
        <p:spPr>
          <a:xfrm>
            <a:off x="548640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closingT"/>
          <p:cNvSpPr txBox="1"/>
          <p:nvPr/>
        </p:nvSpPr>
        <p:spPr>
          <a:xfrm>
            <a:off x="822960" y="5440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機器幫忙決定先看誰・證據鏈告訴你為什麼・最後由人決定要不要去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lopeSentinel">
  <a:themeElements>
    <a:clrScheme name="SlopeSentinel">
      <a:dk1>
        <a:srgbClr val="1E2B22"/>
      </a:dk1>
      <a:lt1>
        <a:srgbClr val="FFFFFF"/>
      </a:lt1>
      <a:dk2>
        <a:srgbClr val="2C5F2D"/>
      </a:dk2>
      <a:lt2>
        <a:srgbClr val="EEF3EC"/>
      </a:lt2>
      <a:accent1>
        <a:srgbClr val="2C5F2D"/>
      </a:accent1>
      <a:accent2>
        <a:srgbClr val="B85042"/>
      </a:accent2>
      <a:accent3>
        <a:srgbClr val="97BC62"/>
      </a:accent3>
      <a:accent4>
        <a:srgbClr val="5E6B63"/>
      </a:accent4>
      <a:accent5>
        <a:srgbClr val="D9A441"/>
      </a:accent5>
      <a:accent6>
        <a:srgbClr val="4A6FA5"/>
      </a:accent6>
      <a:hlink>
        <a:srgbClr val="2C5F2D"/>
      </a:hlink>
      <a:folHlink>
        <a:srgbClr val="5E6B63"/>
      </a:folHlink>
    </a:clrScheme>
    <a:fontScheme name="SlopeSentinel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地景複發熱點觀測站</dc:title>
  <dc:subject>PptxGenJS Presentation</dc:subject>
  <dc:creator>TASTI_SatDashboard</dc:creator>
  <cp:lastModifiedBy>TASTI_SatDashboard</cp:lastModifiedBy>
  <cp:revision>1</cp:revision>
  <dcterms:created xsi:type="dcterms:W3CDTF">2026-10-16T15:09:26Z</dcterms:created>
  <dcterms:modified xsi:type="dcterms:W3CDTF">2026-10-16T15:09:26Z</dcterms:modified>
</cp:coreProperties>
</file>